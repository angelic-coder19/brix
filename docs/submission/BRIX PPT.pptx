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32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David, and this is Brix. Students don’t lose money in one big mistake. They lose it at small moments nobody warns them about. 59 percent of Gen Z have already paid for a trial they forgot. Brix catches those moments.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 map: who we are, the user and their problem, proof from customer discovery, our unique insight, the product demo, then competition, market, model, plan, ask, and the value Brix delivers.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David Adedeji, and this is the team behind Brix. [Introduce each teammate and what they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moments. One: almost half of Americans, and 59% of Gen Z, have paid for a trial they forgot. Two: 27 billion dollars sits on unused gift cards. Three: aid refunds often carry loan money, and 28% of first-year students with federal loans said they had none. Four: Gen Z learns investing from social media far more than from professionals. The information exists, but nobody turns it into a decision at the right moment.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insight sits where two things overlap. Students need a nudge at the moment money moves, and the market, built for general adults, doesn’t give it to them. Brix lives in that overlap.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Brix shows up at each of those moments with one clear next step: before a charge, when a refund lands, before a gift card expires, and before you risk real money. It’s read-only, nothing happens without your yes, and every answer shows where it came from. Let me show you. [Switch to the 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connect read-only, and talk to Brix wherever you are. Two: Brix catches the moment. Three: you get one next step and nothing happens without your yes. [Switch to the live app for the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Rocket Money and YNAB are good tools, but they’re built for general adults and charge for the useful parts. Everything in green is Brix; everything in red is a gap. Brix catches the refund and loan moment nobody else touches, tracks gift cards, lets you practice investing safely, and reaches you by phone and WhatsApp. The core is free.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19.4 million college students in the U.S. At 48 dollars a year, that’s about a 930 million dollar consumer opportunity, before bank partnerships. Our goal is 50,000 students on 25 campuses by year two, starting with one pilot campus.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make money four ways. Students get a free core and can upgrade to Brix Plus. Banks and credit unions license Brix as a white-label feature, which is the biggest lever and exactly where a bank like FNB fits. Developers pay for API usage. And later, with a sponsor bank, real single-use cards earn interchange.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A pilot on one campus first, then 10 campuses and a credit-union pilot, then 25 campuses, two bank partners and real cards by 2028. That’s about 60 thousand dollars in year one and 720 thousand in year two, with banks as the biggest share.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we win goes straight into Brix, and every dollar has a job: 35 percent for product and security, a quarter for compliance and a bank pilot like FNB, a quarter for launching on our first campus, and the rest for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50,000 students, the impact adds up. One avoided trial a semester is 1.2 million dollars kept. If one in ten returns a thousand dollars of unused loans, that’s about 1.4 million dollars of interest they never pay. And 2 million dollars of gift cards actually gets spent.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Brix catches money moments before they pass, and it’s live right now. Scan the code to try it, or call it. I’m David Adedeji from Team Brix.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292920"/>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29292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292920"/>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29292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1524695"/>
            <a:ext cx="5494020"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13C22"/>
                </a:solidFill>
                <a:latin typeface="Arial" pitchFamily="34" charset="0"/>
                <a:ea typeface="Arial" pitchFamily="34" charset="-122"/>
                <a:cs typeface="Arial" pitchFamily="34" charset="-120"/>
              </a:rPr>
              <a:t>Propel Challenge. Future of XYZ Challenge </a:t>
            </a:r>
            <a:endParaRPr lang="en-US" sz="1300" dirty="0"/>
          </a:p>
        </p:txBody>
      </p:sp>
      <p:pic>
        <p:nvPicPr>
          <p:cNvPr id="3" name="Image 0" descr="Brix mark"/>
          <p:cNvPicPr>
            <a:picLocks noChangeAspect="1"/>
          </p:cNvPicPr>
          <p:nvPr/>
        </p:nvPicPr>
        <p:blipFill>
          <a:blip r:embed="rId3"/>
          <a:srcRect/>
          <a:stretch/>
        </p:blipFill>
        <p:spPr>
          <a:xfrm>
            <a:off x="812800" y="2051050"/>
            <a:ext cx="1117600" cy="1022350"/>
          </a:xfrm>
          <a:prstGeom prst="rect">
            <a:avLst/>
          </a:prstGeom>
        </p:spPr>
      </p:pic>
      <p:sp>
        <p:nvSpPr>
          <p:cNvPr id="4" name="Text 1"/>
          <p:cNvSpPr>
            <a:spLocks noGrp="1"/>
          </p:cNvSpPr>
          <p:nvPr>
            <p:ph type="title"/>
          </p:nvPr>
        </p:nvSpPr>
        <p:spPr>
          <a:xfrm>
            <a:off x="2108200" y="1958975"/>
            <a:ext cx="3271718" cy="1231900"/>
          </a:xfrm>
          <a:prstGeom prst="rect">
            <a:avLst/>
          </a:prstGeom>
          <a:noFill/>
          <a:ln/>
        </p:spPr>
        <p:txBody>
          <a:bodyPr wrap="square" lIns="0" tIns="0" rIns="0" bIns="0" rtlCol="0" anchor="t">
            <a:normAutofit/>
          </a:bodyPr>
          <a:lstStyle/>
          <a:p>
            <a:pPr marL="0" indent="0" algn="l">
              <a:lnSpc>
                <a:spcPts val="9500"/>
              </a:lnSpc>
              <a:buNone/>
            </a:pPr>
            <a:r>
              <a:rPr lang="en-US" sz="8800" b="1" i="0" kern="0" spc="-350" dirty="0">
                <a:solidFill>
                  <a:srgbClr val="292920"/>
                </a:solidFill>
                <a:latin typeface="Arial" pitchFamily="34" charset="0"/>
                <a:ea typeface="Arial" pitchFamily="34" charset="-122"/>
                <a:cs typeface="Arial" pitchFamily="34" charset="-120"/>
              </a:rPr>
              <a:t>br</a:t>
            </a:r>
            <a:r>
              <a:rPr lang="en-US" sz="8800" b="1" i="0" kern="0" spc="-350" dirty="0">
                <a:solidFill>
                  <a:srgbClr val="C8462A"/>
                </a:solidFill>
                <a:latin typeface="Arial" pitchFamily="34" charset="0"/>
                <a:ea typeface="Arial" pitchFamily="34" charset="-122"/>
                <a:cs typeface="Arial" pitchFamily="34" charset="-120"/>
              </a:rPr>
              <a:t>i</a:t>
            </a:r>
            <a:r>
              <a:rPr lang="en-US" sz="8800" b="1" i="0" kern="0" spc="-350" dirty="0">
                <a:solidFill>
                  <a:srgbClr val="292920"/>
                </a:solidFill>
                <a:latin typeface="Arial" pitchFamily="34" charset="0"/>
                <a:ea typeface="Arial" pitchFamily="34" charset="-122"/>
                <a:cs typeface="Arial" pitchFamily="34" charset="-120"/>
              </a:rPr>
              <a:t>x</a:t>
            </a:r>
            <a:r>
              <a:rPr lang="en-US" sz="8800" b="1" i="0" kern="0" spc="-350" dirty="0">
                <a:solidFill>
                  <a:srgbClr val="C8462A"/>
                </a:solidFill>
                <a:latin typeface="Arial" pitchFamily="34" charset="0"/>
                <a:ea typeface="Arial" pitchFamily="34" charset="-122"/>
                <a:cs typeface="Arial" pitchFamily="34" charset="-120"/>
              </a:rPr>
              <a:t>.</a:t>
            </a:r>
            <a:endParaRPr lang="en-US" sz="8800" dirty="0"/>
          </a:p>
        </p:txBody>
      </p:sp>
      <p:sp>
        <p:nvSpPr>
          <p:cNvPr id="5" name="Text 2"/>
          <p:cNvSpPr/>
          <p:nvPr/>
        </p:nvSpPr>
        <p:spPr>
          <a:xfrm>
            <a:off x="812800" y="3368675"/>
            <a:ext cx="5494020" cy="1031081"/>
          </a:xfrm>
          <a:prstGeom prst="rect">
            <a:avLst/>
          </a:prstGeom>
          <a:noFill/>
          <a:ln/>
        </p:spPr>
        <p:txBody>
          <a:bodyPr wrap="square" lIns="0" tIns="0" rIns="0" bIns="0" rtlCol="0" anchor="t">
            <a:normAutofit/>
          </a:bodyPr>
          <a:lstStyle/>
          <a:p>
            <a:pPr marL="0" indent="0" algn="l">
              <a:lnSpc>
                <a:spcPts val="3960"/>
              </a:lnSpc>
              <a:buNone/>
            </a:pPr>
            <a:r>
              <a:rPr lang="en-US" sz="3600" i="1" dirty="0">
                <a:solidFill>
                  <a:srgbClr val="292920"/>
                </a:solidFill>
                <a:latin typeface="Georgia" pitchFamily="18" charset="0"/>
                <a:ea typeface="Georgia" pitchFamily="18" charset="-122"/>
                <a:cs typeface="Georgia" pitchFamily="18" charset="-120"/>
              </a:rPr>
              <a:t>Catch money moments before they pass.</a:t>
            </a:r>
            <a:endParaRPr lang="en-US" sz="3600" dirty="0"/>
          </a:p>
        </p:txBody>
      </p:sp>
      <p:sp>
        <p:nvSpPr>
          <p:cNvPr id="6" name="Text 3"/>
          <p:cNvSpPr/>
          <p:nvPr/>
        </p:nvSpPr>
        <p:spPr>
          <a:xfrm>
            <a:off x="812800" y="4577556"/>
            <a:ext cx="549402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493F"/>
                </a:solidFill>
                <a:latin typeface="Arial" pitchFamily="34" charset="0"/>
                <a:ea typeface="Arial" pitchFamily="34" charset="-122"/>
                <a:cs typeface="Arial" pitchFamily="34" charset="-120"/>
              </a:rPr>
              <a:t>An AI money assistant for college students: trials, aid refunds, gift cards and first investments.</a:t>
            </a:r>
            <a:endParaRPr lang="en-US" sz="1500" dirty="0"/>
          </a:p>
        </p:txBody>
      </p:sp>
      <p:pic>
        <p:nvPicPr>
          <p:cNvPr id="7" name="Image 1" descr="The Brix mark: a tilted orange brick with a smiling face"/>
          <p:cNvPicPr>
            <a:picLocks noChangeAspect="1"/>
          </p:cNvPicPr>
          <p:nvPr/>
        </p:nvPicPr>
        <p:blipFill>
          <a:blip r:embed="rId4"/>
          <a:srcRect/>
          <a:stretch/>
        </p:blipFill>
        <p:spPr>
          <a:xfrm>
            <a:off x="7632700" y="1422400"/>
            <a:ext cx="3556000" cy="3257550"/>
          </a:xfrm>
          <a:prstGeom prst="rect">
            <a:avLst/>
          </a:prstGeom>
        </p:spPr>
      </p:pic>
      <p:sp>
        <p:nvSpPr>
          <p:cNvPr id="8" name="Shape 4"/>
          <p:cNvSpPr/>
          <p:nvPr/>
        </p:nvSpPr>
        <p:spPr>
          <a:xfrm>
            <a:off x="6553200" y="4089400"/>
            <a:ext cx="2413000" cy="1117600"/>
          </a:xfrm>
          <a:prstGeom prst="roundRect">
            <a:avLst>
              <a:gd name="adj" fmla="val 11364"/>
            </a:avLst>
          </a:prstGeom>
          <a:solidFill>
            <a:srgbClr val="292920"/>
          </a:solidFill>
          <a:ln/>
          <a:effectLst>
            <a:outerShdw blurRad="317500" dist="127000" dir="5400000" algn="bl" rotWithShape="0">
              <a:srgbClr val="292920">
                <a:alpha val="30000"/>
              </a:srgbClr>
            </a:outerShdw>
          </a:effectLst>
        </p:spPr>
      </p:sp>
      <p:pic>
        <p:nvPicPr>
          <p:cNvPr id="9" name="Image 2" descr="Ring chart: 59% of Gen Z forgot to cancel a trial"/>
          <p:cNvPicPr>
            <a:picLocks noChangeAspect="1"/>
          </p:cNvPicPr>
          <p:nvPr/>
        </p:nvPicPr>
        <p:blipFill>
          <a:blip r:embed="rId5"/>
          <a:srcRect/>
          <a:stretch/>
        </p:blipFill>
        <p:spPr>
          <a:xfrm>
            <a:off x="6705600" y="4267200"/>
            <a:ext cx="762000" cy="762000"/>
          </a:xfrm>
          <a:prstGeom prst="rect">
            <a:avLst/>
          </a:prstGeom>
        </p:spPr>
      </p:pic>
      <p:sp>
        <p:nvSpPr>
          <p:cNvPr id="10" name="Text 5"/>
          <p:cNvSpPr/>
          <p:nvPr/>
        </p:nvSpPr>
        <p:spPr>
          <a:xfrm>
            <a:off x="6680200" y="4533900"/>
            <a:ext cx="8128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7F5EF"/>
                </a:solidFill>
                <a:latin typeface="Arial" pitchFamily="34" charset="0"/>
                <a:ea typeface="Arial" pitchFamily="34" charset="-122"/>
                <a:cs typeface="Arial" pitchFamily="34" charset="-120"/>
              </a:rPr>
              <a:t>59%</a:t>
            </a:r>
            <a:endParaRPr lang="en-US" sz="1500" dirty="0"/>
          </a:p>
        </p:txBody>
      </p:sp>
      <p:sp>
        <p:nvSpPr>
          <p:cNvPr id="11" name="Text 6"/>
          <p:cNvSpPr/>
          <p:nvPr/>
        </p:nvSpPr>
        <p:spPr>
          <a:xfrm>
            <a:off x="7594600" y="4339630"/>
            <a:ext cx="1270000"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7F5EF"/>
                </a:solidFill>
                <a:latin typeface="Arial" pitchFamily="34" charset="0"/>
                <a:ea typeface="Arial" pitchFamily="34" charset="-122"/>
                <a:cs typeface="Arial" pitchFamily="34" charset="-120"/>
              </a:rPr>
              <a:t>of Gen Z have paid for a trial they forgot.</a:t>
            </a:r>
            <a:endParaRPr lang="en-US" sz="1200" dirty="0"/>
          </a:p>
        </p:txBody>
      </p:sp>
      <p:sp>
        <p:nvSpPr>
          <p:cNvPr id="12"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Agenda</a:t>
            </a:r>
            <a:endParaRPr lang="en-US" sz="3600" dirty="0"/>
          </a:p>
        </p:txBody>
      </p:sp>
      <p:sp>
        <p:nvSpPr>
          <p:cNvPr id="3" name="Shape 1"/>
          <p:cNvSpPr/>
          <p:nvPr/>
        </p:nvSpPr>
        <p:spPr>
          <a:xfrm>
            <a:off x="815975" y="1623616"/>
            <a:ext cx="5124450" cy="934740"/>
          </a:xfrm>
          <a:prstGeom prst="roundRect">
            <a:avLst>
              <a:gd name="adj" fmla="val 13247"/>
            </a:avLst>
          </a:prstGeom>
          <a:solidFill>
            <a:srgbClr val="FFFEFA"/>
          </a:solidFill>
          <a:ln w="6350">
            <a:solidFill>
              <a:srgbClr val="E7E4DB"/>
            </a:solidFill>
            <a:prstDash val="solid"/>
          </a:ln>
        </p:spPr>
      </p:sp>
      <p:sp>
        <p:nvSpPr>
          <p:cNvPr id="4" name="Text 2"/>
          <p:cNvSpPr/>
          <p:nvPr/>
        </p:nvSpPr>
        <p:spPr>
          <a:xfrm>
            <a:off x="1047750" y="1895376"/>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01</a:t>
            </a:r>
            <a:endParaRPr lang="en-US" sz="2200" dirty="0"/>
          </a:p>
        </p:txBody>
      </p:sp>
      <p:sp>
        <p:nvSpPr>
          <p:cNvPr id="5" name="Text 3"/>
          <p:cNvSpPr/>
          <p:nvPr/>
        </p:nvSpPr>
        <p:spPr>
          <a:xfrm>
            <a:off x="1682750" y="1930995"/>
            <a:ext cx="344357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Team</a:t>
            </a:r>
            <a:endParaRPr lang="en-US" sz="1800" dirty="0"/>
          </a:p>
        </p:txBody>
      </p:sp>
      <p:sp>
        <p:nvSpPr>
          <p:cNvPr id="6" name="Text 4"/>
          <p:cNvSpPr/>
          <p:nvPr/>
        </p:nvSpPr>
        <p:spPr>
          <a:xfrm>
            <a:off x="5203825" y="1975445"/>
            <a:ext cx="6057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 3</a:t>
            </a:r>
            <a:endParaRPr lang="en-US" sz="1300" dirty="0"/>
          </a:p>
        </p:txBody>
      </p:sp>
      <p:sp>
        <p:nvSpPr>
          <p:cNvPr id="7" name="Shape 5"/>
          <p:cNvSpPr/>
          <p:nvPr/>
        </p:nvSpPr>
        <p:spPr>
          <a:xfrm>
            <a:off x="6251575" y="1623616"/>
            <a:ext cx="5124450" cy="934740"/>
          </a:xfrm>
          <a:prstGeom prst="roundRect">
            <a:avLst>
              <a:gd name="adj" fmla="val 13247"/>
            </a:avLst>
          </a:prstGeom>
          <a:solidFill>
            <a:srgbClr val="FFFEFA"/>
          </a:solidFill>
          <a:ln w="6350">
            <a:solidFill>
              <a:srgbClr val="E7E4DB"/>
            </a:solidFill>
            <a:prstDash val="solid"/>
          </a:ln>
        </p:spPr>
      </p:sp>
      <p:sp>
        <p:nvSpPr>
          <p:cNvPr id="8" name="Text 6"/>
          <p:cNvSpPr/>
          <p:nvPr/>
        </p:nvSpPr>
        <p:spPr>
          <a:xfrm>
            <a:off x="6483350" y="1895376"/>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05</a:t>
            </a:r>
            <a:endParaRPr lang="en-US" sz="2200" dirty="0"/>
          </a:p>
        </p:txBody>
      </p:sp>
      <p:sp>
        <p:nvSpPr>
          <p:cNvPr id="9" name="Text 7"/>
          <p:cNvSpPr/>
          <p:nvPr/>
        </p:nvSpPr>
        <p:spPr>
          <a:xfrm>
            <a:off x="7118350" y="1930995"/>
            <a:ext cx="316938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Product demo</a:t>
            </a:r>
            <a:endParaRPr lang="en-US" sz="1800" dirty="0"/>
          </a:p>
        </p:txBody>
      </p:sp>
      <p:sp>
        <p:nvSpPr>
          <p:cNvPr id="10" name="Text 8"/>
          <p:cNvSpPr/>
          <p:nvPr/>
        </p:nvSpPr>
        <p:spPr>
          <a:xfrm>
            <a:off x="10373221" y="1975445"/>
            <a:ext cx="9252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Slides 7–8</a:t>
            </a:r>
            <a:endParaRPr lang="en-US" sz="1300" dirty="0"/>
          </a:p>
        </p:txBody>
      </p:sp>
      <p:sp>
        <p:nvSpPr>
          <p:cNvPr id="11" name="Shape 9"/>
          <p:cNvSpPr/>
          <p:nvPr/>
        </p:nvSpPr>
        <p:spPr>
          <a:xfrm>
            <a:off x="815975" y="2717105"/>
            <a:ext cx="5124450" cy="934740"/>
          </a:xfrm>
          <a:prstGeom prst="roundRect">
            <a:avLst>
              <a:gd name="adj" fmla="val 13247"/>
            </a:avLst>
          </a:prstGeom>
          <a:solidFill>
            <a:srgbClr val="FFFEFA"/>
          </a:solidFill>
          <a:ln w="6350">
            <a:solidFill>
              <a:srgbClr val="E7E4DB"/>
            </a:solidFill>
            <a:prstDash val="solid"/>
          </a:ln>
        </p:spPr>
      </p:sp>
      <p:sp>
        <p:nvSpPr>
          <p:cNvPr id="12" name="Text 10"/>
          <p:cNvSpPr/>
          <p:nvPr/>
        </p:nvSpPr>
        <p:spPr>
          <a:xfrm>
            <a:off x="1047750" y="2988866"/>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02</a:t>
            </a:r>
            <a:endParaRPr lang="en-US" sz="2200" dirty="0"/>
          </a:p>
        </p:txBody>
      </p:sp>
      <p:sp>
        <p:nvSpPr>
          <p:cNvPr id="13" name="Text 11"/>
          <p:cNvSpPr/>
          <p:nvPr/>
        </p:nvSpPr>
        <p:spPr>
          <a:xfrm>
            <a:off x="1682750" y="3024485"/>
            <a:ext cx="344357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User and problem</a:t>
            </a:r>
            <a:endParaRPr lang="en-US" sz="1800" dirty="0"/>
          </a:p>
        </p:txBody>
      </p:sp>
      <p:sp>
        <p:nvSpPr>
          <p:cNvPr id="14" name="Text 12"/>
          <p:cNvSpPr/>
          <p:nvPr/>
        </p:nvSpPr>
        <p:spPr>
          <a:xfrm>
            <a:off x="5203825" y="3068935"/>
            <a:ext cx="6057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 4</a:t>
            </a:r>
            <a:endParaRPr lang="en-US" sz="1300" dirty="0"/>
          </a:p>
        </p:txBody>
      </p:sp>
      <p:sp>
        <p:nvSpPr>
          <p:cNvPr id="15" name="Shape 13"/>
          <p:cNvSpPr/>
          <p:nvPr/>
        </p:nvSpPr>
        <p:spPr>
          <a:xfrm>
            <a:off x="6251575" y="2717105"/>
            <a:ext cx="5124450" cy="934740"/>
          </a:xfrm>
          <a:prstGeom prst="roundRect">
            <a:avLst>
              <a:gd name="adj" fmla="val 13247"/>
            </a:avLst>
          </a:prstGeom>
          <a:solidFill>
            <a:srgbClr val="FFFEFA"/>
          </a:solidFill>
          <a:ln w="6350">
            <a:solidFill>
              <a:srgbClr val="E7E4DB"/>
            </a:solidFill>
            <a:prstDash val="solid"/>
          </a:ln>
        </p:spPr>
      </p:sp>
      <p:sp>
        <p:nvSpPr>
          <p:cNvPr id="16" name="Text 14"/>
          <p:cNvSpPr/>
          <p:nvPr/>
        </p:nvSpPr>
        <p:spPr>
          <a:xfrm>
            <a:off x="6483350" y="2988866"/>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06</a:t>
            </a:r>
            <a:endParaRPr lang="en-US" sz="2200" dirty="0"/>
          </a:p>
        </p:txBody>
      </p:sp>
      <p:sp>
        <p:nvSpPr>
          <p:cNvPr id="17" name="Text 15"/>
          <p:cNvSpPr/>
          <p:nvPr/>
        </p:nvSpPr>
        <p:spPr>
          <a:xfrm>
            <a:off x="7118350" y="2864445"/>
            <a:ext cx="3087423" cy="665361"/>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Competition, market, model</a:t>
            </a:r>
            <a:endParaRPr lang="en-US" sz="1800" dirty="0"/>
          </a:p>
        </p:txBody>
      </p:sp>
      <p:sp>
        <p:nvSpPr>
          <p:cNvPr id="18" name="Text 16"/>
          <p:cNvSpPr/>
          <p:nvPr/>
        </p:nvSpPr>
        <p:spPr>
          <a:xfrm>
            <a:off x="10293648" y="3068935"/>
            <a:ext cx="102072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Slides 9–11</a:t>
            </a:r>
            <a:endParaRPr lang="en-US" sz="1300" dirty="0"/>
          </a:p>
        </p:txBody>
      </p:sp>
      <p:sp>
        <p:nvSpPr>
          <p:cNvPr id="19" name="Shape 17"/>
          <p:cNvSpPr/>
          <p:nvPr/>
        </p:nvSpPr>
        <p:spPr>
          <a:xfrm>
            <a:off x="815975" y="3810595"/>
            <a:ext cx="5124450" cy="934740"/>
          </a:xfrm>
          <a:prstGeom prst="roundRect">
            <a:avLst>
              <a:gd name="adj" fmla="val 13247"/>
            </a:avLst>
          </a:prstGeom>
          <a:solidFill>
            <a:srgbClr val="FFFEFA"/>
          </a:solidFill>
          <a:ln w="6350">
            <a:solidFill>
              <a:srgbClr val="E7E4DB"/>
            </a:solidFill>
            <a:prstDash val="solid"/>
          </a:ln>
        </p:spPr>
      </p:sp>
      <p:sp>
        <p:nvSpPr>
          <p:cNvPr id="20" name="Text 18"/>
          <p:cNvSpPr/>
          <p:nvPr/>
        </p:nvSpPr>
        <p:spPr>
          <a:xfrm>
            <a:off x="1047750" y="4082355"/>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03</a:t>
            </a:r>
            <a:endParaRPr lang="en-US" sz="2200" dirty="0"/>
          </a:p>
        </p:txBody>
      </p:sp>
      <p:sp>
        <p:nvSpPr>
          <p:cNvPr id="21" name="Text 19"/>
          <p:cNvSpPr/>
          <p:nvPr/>
        </p:nvSpPr>
        <p:spPr>
          <a:xfrm>
            <a:off x="1682750" y="4117975"/>
            <a:ext cx="344357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Proof: customer discovery</a:t>
            </a:r>
            <a:endParaRPr lang="en-US" sz="1800" dirty="0"/>
          </a:p>
        </p:txBody>
      </p:sp>
      <p:sp>
        <p:nvSpPr>
          <p:cNvPr id="22" name="Text 20"/>
          <p:cNvSpPr/>
          <p:nvPr/>
        </p:nvSpPr>
        <p:spPr>
          <a:xfrm>
            <a:off x="5203825" y="4162425"/>
            <a:ext cx="6057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 5</a:t>
            </a:r>
            <a:endParaRPr lang="en-US" sz="1300" dirty="0"/>
          </a:p>
        </p:txBody>
      </p:sp>
      <p:sp>
        <p:nvSpPr>
          <p:cNvPr id="23" name="Shape 21"/>
          <p:cNvSpPr/>
          <p:nvPr/>
        </p:nvSpPr>
        <p:spPr>
          <a:xfrm>
            <a:off x="6251575" y="3810595"/>
            <a:ext cx="5124450" cy="934740"/>
          </a:xfrm>
          <a:prstGeom prst="roundRect">
            <a:avLst>
              <a:gd name="adj" fmla="val 13247"/>
            </a:avLst>
          </a:prstGeom>
          <a:solidFill>
            <a:srgbClr val="FFFEFA"/>
          </a:solidFill>
          <a:ln w="6350">
            <a:solidFill>
              <a:srgbClr val="E7E4DB"/>
            </a:solidFill>
            <a:prstDash val="solid"/>
          </a:ln>
        </p:spPr>
      </p:sp>
      <p:sp>
        <p:nvSpPr>
          <p:cNvPr id="24" name="Text 22"/>
          <p:cNvSpPr/>
          <p:nvPr/>
        </p:nvSpPr>
        <p:spPr>
          <a:xfrm>
            <a:off x="6483350" y="4082355"/>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07</a:t>
            </a:r>
            <a:endParaRPr lang="en-US" sz="2200" dirty="0"/>
          </a:p>
        </p:txBody>
      </p:sp>
      <p:sp>
        <p:nvSpPr>
          <p:cNvPr id="25" name="Text 23"/>
          <p:cNvSpPr/>
          <p:nvPr/>
        </p:nvSpPr>
        <p:spPr>
          <a:xfrm>
            <a:off x="7118350" y="4117975"/>
            <a:ext cx="29802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Plan and ask</a:t>
            </a:r>
            <a:endParaRPr lang="en-US" sz="1800" dirty="0"/>
          </a:p>
        </p:txBody>
      </p:sp>
      <p:sp>
        <p:nvSpPr>
          <p:cNvPr id="26" name="Text 24"/>
          <p:cNvSpPr/>
          <p:nvPr/>
        </p:nvSpPr>
        <p:spPr>
          <a:xfrm>
            <a:off x="10189567" y="4162425"/>
            <a:ext cx="11456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Slides 12–13</a:t>
            </a:r>
            <a:endParaRPr lang="en-US" sz="1300" dirty="0"/>
          </a:p>
        </p:txBody>
      </p:sp>
      <p:sp>
        <p:nvSpPr>
          <p:cNvPr id="27" name="Shape 25"/>
          <p:cNvSpPr/>
          <p:nvPr/>
        </p:nvSpPr>
        <p:spPr>
          <a:xfrm>
            <a:off x="815975" y="4904085"/>
            <a:ext cx="5124450" cy="934740"/>
          </a:xfrm>
          <a:prstGeom prst="roundRect">
            <a:avLst>
              <a:gd name="adj" fmla="val 13247"/>
            </a:avLst>
          </a:prstGeom>
          <a:solidFill>
            <a:srgbClr val="FFFEFA"/>
          </a:solidFill>
          <a:ln w="6350">
            <a:solidFill>
              <a:srgbClr val="E7E4DB"/>
            </a:solidFill>
            <a:prstDash val="solid"/>
          </a:ln>
        </p:spPr>
      </p:sp>
      <p:sp>
        <p:nvSpPr>
          <p:cNvPr id="28" name="Text 26"/>
          <p:cNvSpPr/>
          <p:nvPr/>
        </p:nvSpPr>
        <p:spPr>
          <a:xfrm>
            <a:off x="1047750" y="5175845"/>
            <a:ext cx="5080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462A"/>
                </a:solidFill>
                <a:latin typeface="Arial" pitchFamily="34" charset="0"/>
                <a:ea typeface="Arial" pitchFamily="34" charset="-122"/>
                <a:cs typeface="Arial" pitchFamily="34" charset="-120"/>
              </a:rPr>
              <a:t>04</a:t>
            </a:r>
            <a:endParaRPr lang="en-US" sz="2200" dirty="0"/>
          </a:p>
        </p:txBody>
      </p:sp>
      <p:sp>
        <p:nvSpPr>
          <p:cNvPr id="29" name="Text 27"/>
          <p:cNvSpPr/>
          <p:nvPr/>
        </p:nvSpPr>
        <p:spPr>
          <a:xfrm>
            <a:off x="1682750" y="5211465"/>
            <a:ext cx="344357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92920"/>
                </a:solidFill>
                <a:latin typeface="Arial" pitchFamily="34" charset="0"/>
                <a:ea typeface="Arial" pitchFamily="34" charset="-122"/>
                <a:cs typeface="Arial" pitchFamily="34" charset="-120"/>
              </a:rPr>
              <a:t>Unique insight</a:t>
            </a:r>
            <a:endParaRPr lang="en-US" sz="1800" dirty="0"/>
          </a:p>
        </p:txBody>
      </p:sp>
      <p:sp>
        <p:nvSpPr>
          <p:cNvPr id="30" name="Text 28"/>
          <p:cNvSpPr/>
          <p:nvPr/>
        </p:nvSpPr>
        <p:spPr>
          <a:xfrm>
            <a:off x="5203825" y="5255915"/>
            <a:ext cx="6057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A60"/>
                </a:solidFill>
                <a:latin typeface="Arial" pitchFamily="34" charset="0"/>
                <a:ea typeface="Arial" pitchFamily="34" charset="-122"/>
                <a:cs typeface="Arial" pitchFamily="34" charset="-120"/>
              </a:rPr>
              <a:t>Slide 6</a:t>
            </a:r>
            <a:endParaRPr lang="en-US" sz="1300" dirty="0"/>
          </a:p>
        </p:txBody>
      </p:sp>
      <p:sp>
        <p:nvSpPr>
          <p:cNvPr id="32" name="Text 30"/>
          <p:cNvSpPr/>
          <p:nvPr/>
        </p:nvSpPr>
        <p:spPr>
          <a:xfrm>
            <a:off x="6483350" y="5084467"/>
            <a:ext cx="508000" cy="416520"/>
          </a:xfrm>
          <a:prstGeom prst="rect">
            <a:avLst/>
          </a:prstGeom>
          <a:noFill/>
          <a:ln/>
        </p:spPr>
        <p:txBody>
          <a:bodyPr wrap="square" lIns="0" tIns="0" rIns="0" bIns="0" rtlCol="0" anchor="t">
            <a:normAutofit/>
          </a:bodyPr>
          <a:lstStyle/>
          <a:p>
            <a:pPr marL="0" indent="0" algn="l">
              <a:lnSpc>
                <a:spcPts val="3080"/>
              </a:lnSpc>
              <a:buNone/>
            </a:pPr>
            <a:endParaRPr lang="en-US" sz="2200" dirty="0"/>
          </a:p>
        </p:txBody>
      </p:sp>
      <p:sp>
        <p:nvSpPr>
          <p:cNvPr id="33" name="Text 31"/>
          <p:cNvSpPr/>
          <p:nvPr/>
        </p:nvSpPr>
        <p:spPr>
          <a:xfrm>
            <a:off x="7400355" y="5151836"/>
            <a:ext cx="3362021" cy="345380"/>
          </a:xfrm>
          <a:prstGeom prst="rect">
            <a:avLst/>
          </a:prstGeom>
          <a:noFill/>
          <a:ln/>
        </p:spPr>
        <p:txBody>
          <a:bodyPr wrap="square" lIns="0" tIns="0" rIns="0" bIns="0" rtlCol="0" anchor="t">
            <a:normAutofit/>
          </a:bodyPr>
          <a:lstStyle/>
          <a:p>
            <a:pPr marL="0" indent="0" algn="l">
              <a:lnSpc>
                <a:spcPts val="2520"/>
              </a:lnSpc>
              <a:buNone/>
            </a:pPr>
            <a:endParaRPr lang="en-US" sz="1800" dirty="0">
              <a:ln w="0"/>
              <a:effectLst>
                <a:outerShdw blurRad="38100" dist="19050" dir="2700000" algn="tl" rotWithShape="0">
                  <a:schemeClr val="dk1">
                    <a:alpha val="40000"/>
                  </a:schemeClr>
                </a:outerShdw>
              </a:effectLst>
            </a:endParaRPr>
          </a:p>
        </p:txBody>
      </p:sp>
      <p:sp>
        <p:nvSpPr>
          <p:cNvPr id="34" name="Text 32"/>
          <p:cNvSpPr/>
          <p:nvPr/>
        </p:nvSpPr>
        <p:spPr>
          <a:xfrm>
            <a:off x="11345988" y="5255915"/>
            <a:ext cx="716042"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6" name="Shape 21">
            <a:extLst>
              <a:ext uri="{FF2B5EF4-FFF2-40B4-BE49-F238E27FC236}">
                <a16:creationId xmlns:a16="http://schemas.microsoft.com/office/drawing/2014/main" id="{64D3FDA1-1DEC-D10B-A196-9EA56C81FDCE}"/>
              </a:ext>
            </a:extLst>
          </p:cNvPr>
          <p:cNvSpPr/>
          <p:nvPr/>
        </p:nvSpPr>
        <p:spPr>
          <a:xfrm>
            <a:off x="6280403" y="5017095"/>
            <a:ext cx="5124450" cy="934740"/>
          </a:xfrm>
          <a:prstGeom prst="roundRect">
            <a:avLst>
              <a:gd name="adj" fmla="val 13247"/>
            </a:avLst>
          </a:prstGeom>
          <a:solidFill>
            <a:srgbClr val="FFFEFA"/>
          </a:solidFill>
          <a:ln w="6350">
            <a:solidFill>
              <a:srgbClr val="E7E4DB"/>
            </a:solidFill>
            <a:prstDash val="solid"/>
          </a:ln>
        </p:spPr>
        <p:txBody>
          <a:bodyPr/>
          <a:lstStyle/>
          <a:p>
            <a:endParaRPr lang="en-US" dirty="0">
              <a:solidFill>
                <a:srgbClr val="F08A62"/>
              </a:solidFill>
              <a:ea typeface="Arial" pitchFamily="34" charset="-122"/>
              <a:cs typeface="Arial" pitchFamily="34" charset="-120"/>
            </a:endParaRPr>
          </a:p>
          <a:p>
            <a:r>
              <a:rPr lang="en-US" sz="2200" b="1" dirty="0">
                <a:solidFill>
                  <a:srgbClr val="F08A62"/>
                </a:solidFill>
                <a:ea typeface="Arial" pitchFamily="34" charset="-122"/>
                <a:cs typeface="Arial" pitchFamily="34" charset="-120"/>
              </a:rPr>
              <a:t>08</a:t>
            </a:r>
            <a:r>
              <a:rPr lang="en-US" b="1" dirty="0">
                <a:solidFill>
                  <a:srgbClr val="F08A62"/>
                </a:solidFill>
              </a:rPr>
              <a:t>       </a:t>
            </a:r>
            <a:r>
              <a:rPr lang="en-US" b="1" dirty="0">
                <a:ln w="0"/>
                <a:effectLst>
                  <a:outerShdw blurRad="38100" dist="19050" dir="2700000" algn="tl" rotWithShape="0">
                    <a:schemeClr val="dk1">
                      <a:alpha val="40000"/>
                    </a:schemeClr>
                  </a:outerShdw>
                </a:effectLst>
                <a:ea typeface="Arial" pitchFamily="34" charset="-122"/>
                <a:cs typeface="Arial" pitchFamily="34" charset="-120"/>
              </a:rPr>
              <a:t>Value delivered                         </a:t>
            </a:r>
            <a:r>
              <a:rPr lang="en-US" sz="1300" b="1" dirty="0">
                <a:solidFill>
                  <a:srgbClr val="B9B8AA"/>
                </a:solidFill>
                <a:ea typeface="Arial" pitchFamily="34" charset="-122"/>
                <a:cs typeface="Arial" pitchFamily="34" charset="-120"/>
              </a:rPr>
              <a:t>Slide 14</a:t>
            </a:r>
            <a:endParaRPr lang="en-US" sz="1300" b="1" dirty="0"/>
          </a:p>
          <a:p>
            <a:endParaRPr lang="en-US" dirty="0">
              <a:ln w="0"/>
              <a:effectLst>
                <a:outerShdw blurRad="38100" dist="19050" dir="2700000" algn="tl" rotWithShape="0">
                  <a:schemeClr val="dk1">
                    <a:alpha val="40000"/>
                  </a:schemeClr>
                </a:outerShdw>
              </a:effectLst>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Times New Roman" panose="02020603050405020304" pitchFamily="18" charset="0"/>
                <a:cs typeface="Times New Roman" panose="02020603050405020304" pitchFamily="18" charset="0"/>
              </a:rPr>
              <a:t>Meet the team behind Brix</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839174" y="1680608"/>
            <a:ext cx="2520950" cy="4164409"/>
          </a:xfrm>
          <a:prstGeom prst="roundRect">
            <a:avLst>
              <a:gd name="adj" fmla="val 4912"/>
            </a:avLst>
          </a:prstGeom>
          <a:solidFill>
            <a:srgbClr val="FFFEFA"/>
          </a:solidFill>
          <a:ln w="6350">
            <a:solidFill>
              <a:srgbClr val="E7E4DB"/>
            </a:solidFill>
            <a:prstDash val="solid"/>
          </a:ln>
        </p:spPr>
      </p:sp>
      <p:sp>
        <p:nvSpPr>
          <p:cNvPr id="4" name="Text 2"/>
          <p:cNvSpPr/>
          <p:nvPr/>
        </p:nvSpPr>
        <p:spPr>
          <a:xfrm>
            <a:off x="1516576" y="2735779"/>
            <a:ext cx="1143000" cy="1143000"/>
          </a:xfrm>
          <a:prstGeom prst="roundRect">
            <a:avLst>
              <a:gd name="adj" fmla="val 50000"/>
            </a:avLst>
          </a:prstGeom>
          <a:solidFill>
            <a:srgbClr val="C8462A"/>
          </a:solidFill>
          <a:ln/>
        </p:spPr>
        <p:txBody>
          <a:bodyPr wrap="square" lIns="0" tIns="0" rIns="0" bIns="0" rtlCol="0" anchor="ctr">
            <a:normAutofit/>
          </a:bodyPr>
          <a:lstStyle/>
          <a:p>
            <a:pPr marL="0" indent="0" algn="ctr">
              <a:lnSpc>
                <a:spcPts val="4480"/>
              </a:lnSpc>
              <a:buNone/>
            </a:pPr>
            <a:r>
              <a:rPr lang="en-US" sz="3200" b="1" dirty="0">
                <a:solidFill>
                  <a:srgbClr val="FBF7F2"/>
                </a:solidFill>
                <a:latin typeface="Arial" pitchFamily="34" charset="0"/>
                <a:ea typeface="Arial" pitchFamily="34" charset="-122"/>
                <a:cs typeface="Arial" pitchFamily="34" charset="-120"/>
              </a:rPr>
              <a:t>DA</a:t>
            </a:r>
            <a:endParaRPr lang="en-US" sz="3200" dirty="0"/>
          </a:p>
        </p:txBody>
      </p:sp>
      <p:sp>
        <p:nvSpPr>
          <p:cNvPr id="5" name="Text 3"/>
          <p:cNvSpPr/>
          <p:nvPr/>
        </p:nvSpPr>
        <p:spPr>
          <a:xfrm>
            <a:off x="1049902" y="4898132"/>
            <a:ext cx="2052995" cy="299641"/>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292920"/>
                </a:solidFill>
                <a:latin typeface="Times New Roman" panose="02020603050405020304" pitchFamily="18" charset="0"/>
                <a:ea typeface="Arial" pitchFamily="34" charset="-122"/>
                <a:cs typeface="Times New Roman" panose="02020603050405020304" pitchFamily="18" charset="0"/>
              </a:rPr>
              <a:t>David Adedeji</a:t>
            </a:r>
            <a:endParaRPr lang="en-US" sz="1800" dirty="0">
              <a:latin typeface="Times New Roman" panose="02020603050405020304" pitchFamily="18" charset="0"/>
              <a:cs typeface="Times New Roman" panose="02020603050405020304" pitchFamily="18" charset="0"/>
            </a:endParaRPr>
          </a:p>
        </p:txBody>
      </p:sp>
      <p:sp>
        <p:nvSpPr>
          <p:cNvPr id="6" name="Text 4"/>
          <p:cNvSpPr/>
          <p:nvPr/>
        </p:nvSpPr>
        <p:spPr>
          <a:xfrm>
            <a:off x="1817618" y="4476651"/>
            <a:ext cx="517565" cy="256480"/>
          </a:xfrm>
          <a:prstGeom prst="rect">
            <a:avLst/>
          </a:prstGeom>
          <a:noFill/>
          <a:ln/>
        </p:spPr>
        <p:txBody>
          <a:bodyPr wrap="square" lIns="0" tIns="0" rIns="0" bIns="0" rtlCol="0" anchor="t">
            <a:normAutofit/>
          </a:bodyPr>
          <a:lstStyle/>
          <a:p>
            <a:pPr marL="0" indent="0" algn="ctr">
              <a:lnSpc>
                <a:spcPts val="1820"/>
              </a:lnSpc>
              <a:buNone/>
            </a:pPr>
            <a:endParaRPr lang="en-US" sz="1300" dirty="0"/>
          </a:p>
        </p:txBody>
      </p:sp>
      <p:sp>
        <p:nvSpPr>
          <p:cNvPr id="7" name="Shape 5"/>
          <p:cNvSpPr/>
          <p:nvPr/>
        </p:nvSpPr>
        <p:spPr>
          <a:xfrm>
            <a:off x="4835525" y="1638061"/>
            <a:ext cx="2520950" cy="4164409"/>
          </a:xfrm>
          <a:prstGeom prst="roundRect">
            <a:avLst>
              <a:gd name="adj" fmla="val 4912"/>
            </a:avLst>
          </a:prstGeom>
          <a:solidFill>
            <a:srgbClr val="FFFEFA"/>
          </a:solidFill>
          <a:ln w="6350">
            <a:solidFill>
              <a:srgbClr val="E7E4DB"/>
            </a:solidFill>
            <a:prstDash val="solid"/>
          </a:ln>
        </p:spPr>
      </p:sp>
      <p:sp>
        <p:nvSpPr>
          <p:cNvPr id="9" name="Text 7"/>
          <p:cNvSpPr/>
          <p:nvPr/>
        </p:nvSpPr>
        <p:spPr>
          <a:xfrm>
            <a:off x="5221097" y="4910833"/>
            <a:ext cx="2066798" cy="573881"/>
          </a:xfrm>
          <a:prstGeom prst="rect">
            <a:avLst/>
          </a:prstGeom>
          <a:noFill/>
          <a:ln/>
        </p:spPr>
        <p:txBody>
          <a:bodyPr wrap="square" lIns="0" tIns="0" rIns="0" bIns="0" rtlCol="0" anchor="t">
            <a:normAutofit/>
          </a:bodyPr>
          <a:lstStyle/>
          <a:p>
            <a:pPr marL="0" indent="0" algn="ctr">
              <a:lnSpc>
                <a:spcPts val="2160"/>
              </a:lnSpc>
              <a:buNone/>
            </a:pPr>
            <a:r>
              <a:rPr lang="en-US" b="1" dirty="0">
                <a:solidFill>
                  <a:srgbClr val="292920"/>
                </a:solidFill>
                <a:latin typeface="Times New Roman" panose="02020603050405020304" pitchFamily="18" charset="0"/>
                <a:ea typeface="Arial" pitchFamily="34" charset="-122"/>
                <a:cs typeface="Times New Roman" panose="02020603050405020304" pitchFamily="18" charset="0"/>
              </a:rPr>
              <a:t>Nicholas Nettey</a:t>
            </a:r>
            <a:endParaRPr lang="en-US" sz="1800" dirty="0">
              <a:latin typeface="Times New Roman" panose="02020603050405020304" pitchFamily="18" charset="0"/>
              <a:cs typeface="Times New Roman" panose="02020603050405020304" pitchFamily="18" charset="0"/>
            </a:endParaRPr>
          </a:p>
        </p:txBody>
      </p:sp>
      <p:sp>
        <p:nvSpPr>
          <p:cNvPr id="11" name="Shape 9"/>
          <p:cNvSpPr/>
          <p:nvPr/>
        </p:nvSpPr>
        <p:spPr>
          <a:xfrm>
            <a:off x="8665595" y="1680608"/>
            <a:ext cx="2520950" cy="4164409"/>
          </a:xfrm>
          <a:prstGeom prst="roundRect">
            <a:avLst>
              <a:gd name="adj" fmla="val 4912"/>
            </a:avLst>
          </a:prstGeom>
          <a:solidFill>
            <a:srgbClr val="FFFEFA"/>
          </a:solidFill>
          <a:ln w="6350">
            <a:solidFill>
              <a:srgbClr val="E7E4DB"/>
            </a:solidFill>
            <a:prstDash val="solid"/>
          </a:ln>
        </p:spPr>
        <p:txBody>
          <a:bodyPr/>
          <a:lstStyle/>
          <a:p>
            <a:endParaRPr lang="en-US" dirty="0"/>
          </a:p>
        </p:txBody>
      </p:sp>
      <p:sp>
        <p:nvSpPr>
          <p:cNvPr id="13" name="Text 11"/>
          <p:cNvSpPr/>
          <p:nvPr/>
        </p:nvSpPr>
        <p:spPr>
          <a:xfrm>
            <a:off x="8892671" y="4910833"/>
            <a:ext cx="2066798" cy="573881"/>
          </a:xfrm>
          <a:prstGeom prst="rect">
            <a:avLst/>
          </a:prstGeom>
          <a:noFill/>
          <a:ln/>
        </p:spPr>
        <p:txBody>
          <a:bodyPr wrap="square" lIns="0" tIns="0" rIns="0" bIns="0" rtlCol="0" anchor="t">
            <a:normAutofit/>
          </a:bodyPr>
          <a:lstStyle/>
          <a:p>
            <a:pPr marL="0" indent="0" algn="ctr">
              <a:lnSpc>
                <a:spcPts val="2160"/>
              </a:lnSpc>
              <a:buNone/>
            </a:pPr>
            <a:r>
              <a:rPr lang="en-US" b="1" dirty="0">
                <a:solidFill>
                  <a:srgbClr val="292920"/>
                </a:solidFill>
                <a:latin typeface="Times New Roman" panose="02020603050405020304" pitchFamily="18" charset="0"/>
                <a:ea typeface="Arial" pitchFamily="34" charset="-122"/>
                <a:cs typeface="Times New Roman" panose="02020603050405020304" pitchFamily="18" charset="0"/>
              </a:rPr>
              <a:t>Angel </a:t>
            </a:r>
            <a:r>
              <a:rPr lang="en-US" b="1" dirty="0" err="1">
                <a:solidFill>
                  <a:srgbClr val="292920"/>
                </a:solidFill>
                <a:latin typeface="Times New Roman" panose="02020603050405020304" pitchFamily="18" charset="0"/>
                <a:ea typeface="Arial" pitchFamily="34" charset="-122"/>
                <a:cs typeface="Times New Roman" panose="02020603050405020304" pitchFamily="18" charset="0"/>
              </a:rPr>
              <a:t>Yuzya</a:t>
            </a:r>
            <a:endParaRPr lang="en-US" sz="1800" dirty="0">
              <a:latin typeface="Times New Roman" panose="02020603050405020304" pitchFamily="18" charset="0"/>
              <a:cs typeface="Times New Roman" panose="02020603050405020304" pitchFamily="18" charset="0"/>
            </a:endParaRPr>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Team Brix · Propel Challenge</a:t>
            </a:r>
            <a:endParaRPr lang="en-US" sz="1200" dirty="0"/>
          </a:p>
        </p:txBody>
      </p:sp>
      <p:pic>
        <p:nvPicPr>
          <p:cNvPr id="21" name="Picture 20">
            <a:extLst>
              <a:ext uri="{FF2B5EF4-FFF2-40B4-BE49-F238E27FC236}">
                <a16:creationId xmlns:a16="http://schemas.microsoft.com/office/drawing/2014/main" id="{6D4D3FA3-CE8B-CBB6-0836-9CC6FE53079A}"/>
              </a:ext>
            </a:extLst>
          </p:cNvPr>
          <p:cNvPicPr>
            <a:picLocks noChangeAspect="1"/>
          </p:cNvPicPr>
          <p:nvPr/>
        </p:nvPicPr>
        <p:blipFill>
          <a:blip r:embed="rId3"/>
          <a:stretch>
            <a:fillRect/>
          </a:stretch>
        </p:blipFill>
        <p:spPr>
          <a:xfrm>
            <a:off x="5106477" y="2157808"/>
            <a:ext cx="1979045" cy="2392721"/>
          </a:xfrm>
          <a:prstGeom prst="rect">
            <a:avLst/>
          </a:prstGeom>
        </p:spPr>
      </p:pic>
      <p:pic>
        <p:nvPicPr>
          <p:cNvPr id="23" name="Picture 22">
            <a:extLst>
              <a:ext uri="{FF2B5EF4-FFF2-40B4-BE49-F238E27FC236}">
                <a16:creationId xmlns:a16="http://schemas.microsoft.com/office/drawing/2014/main" id="{F474060D-2673-CFDC-3FF4-2F5FDB2FBDF3}"/>
              </a:ext>
            </a:extLst>
          </p:cNvPr>
          <p:cNvPicPr>
            <a:picLocks noChangeAspect="1"/>
          </p:cNvPicPr>
          <p:nvPr/>
        </p:nvPicPr>
        <p:blipFill>
          <a:blip r:embed="rId4"/>
          <a:stretch>
            <a:fillRect/>
          </a:stretch>
        </p:blipFill>
        <p:spPr>
          <a:xfrm>
            <a:off x="1005455" y="2157808"/>
            <a:ext cx="2097442" cy="2392721"/>
          </a:xfrm>
          <a:prstGeom prst="rect">
            <a:avLst/>
          </a:prstGeom>
        </p:spPr>
      </p:pic>
      <p:pic>
        <p:nvPicPr>
          <p:cNvPr id="25" name="Picture 24">
            <a:extLst>
              <a:ext uri="{FF2B5EF4-FFF2-40B4-BE49-F238E27FC236}">
                <a16:creationId xmlns:a16="http://schemas.microsoft.com/office/drawing/2014/main" id="{AF459061-2AC9-C4BA-03BC-804D27CE84BF}"/>
              </a:ext>
            </a:extLst>
          </p:cNvPr>
          <p:cNvPicPr>
            <a:picLocks noChangeAspect="1"/>
          </p:cNvPicPr>
          <p:nvPr/>
        </p:nvPicPr>
        <p:blipFill>
          <a:blip r:embed="rId5"/>
          <a:stretch>
            <a:fillRect/>
          </a:stretch>
        </p:blipFill>
        <p:spPr>
          <a:xfrm>
            <a:off x="8892671" y="2157807"/>
            <a:ext cx="2066798" cy="23927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9933"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292920"/>
                </a:solidFill>
                <a:latin typeface="Arial" pitchFamily="34" charset="0"/>
                <a:ea typeface="Arial" pitchFamily="34" charset="-122"/>
                <a:cs typeface="Arial" pitchFamily="34" charset="-120"/>
              </a:rPr>
              <a:t>Four money moments students get wrong</a:t>
            </a:r>
            <a:endParaRPr lang="en-US" sz="2800" dirty="0"/>
          </a:p>
        </p:txBody>
      </p:sp>
      <p:sp>
        <p:nvSpPr>
          <p:cNvPr id="3" name="Shape 1"/>
          <p:cNvSpPr/>
          <p:nvPr/>
        </p:nvSpPr>
        <p:spPr>
          <a:xfrm>
            <a:off x="815975" y="1184275"/>
            <a:ext cx="5191125" cy="2339975"/>
          </a:xfrm>
          <a:prstGeom prst="roundRect">
            <a:avLst>
              <a:gd name="adj" fmla="val 5292"/>
            </a:avLst>
          </a:prstGeom>
          <a:solidFill>
            <a:srgbClr val="FFFEFA"/>
          </a:solidFill>
          <a:ln w="6350">
            <a:solidFill>
              <a:srgbClr val="E7E4DB"/>
            </a:solidFill>
            <a:prstDash val="solid"/>
          </a:ln>
        </p:spPr>
      </p:sp>
      <p:sp>
        <p:nvSpPr>
          <p:cNvPr id="4" name="Text 2"/>
          <p:cNvSpPr/>
          <p:nvPr/>
        </p:nvSpPr>
        <p:spPr>
          <a:xfrm>
            <a:off x="1022350" y="1365250"/>
            <a:ext cx="21583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3C22"/>
                </a:solidFill>
                <a:latin typeface="Arial" pitchFamily="34" charset="0"/>
                <a:ea typeface="Arial" pitchFamily="34" charset="-122"/>
                <a:cs typeface="Arial" pitchFamily="34" charset="-120"/>
              </a:rPr>
              <a:t>1 · FORGOTTEN TRIALS</a:t>
            </a:r>
            <a:endParaRPr lang="en-US" sz="1200" dirty="0"/>
          </a:p>
        </p:txBody>
      </p:sp>
      <p:sp>
        <p:nvSpPr>
          <p:cNvPr id="5" name="Text 3"/>
          <p:cNvSpPr/>
          <p:nvPr/>
        </p:nvSpPr>
        <p:spPr>
          <a:xfrm>
            <a:off x="1022350" y="1629370"/>
            <a:ext cx="1896745" cy="558800"/>
          </a:xfrm>
          <a:prstGeom prst="rect">
            <a:avLst/>
          </a:prstGeom>
          <a:noFill/>
          <a:ln/>
        </p:spPr>
        <p:txBody>
          <a:bodyPr wrap="square" lIns="0" tIns="0" rIns="0" bIns="0" rtlCol="0" anchor="t">
            <a:normAutofit/>
          </a:bodyPr>
          <a:lstStyle/>
          <a:p>
            <a:pPr marL="0" indent="0" algn="l">
              <a:lnSpc>
                <a:spcPts val="4200"/>
              </a:lnSpc>
              <a:buNone/>
            </a:pPr>
            <a:r>
              <a:rPr lang="en-US" sz="4200" b="1" kern="0" spc="-100" dirty="0">
                <a:solidFill>
                  <a:srgbClr val="292920"/>
                </a:solidFill>
                <a:latin typeface="Arial" pitchFamily="34" charset="0"/>
                <a:ea typeface="Arial" pitchFamily="34" charset="-122"/>
                <a:cs typeface="Arial" pitchFamily="34" charset="-120"/>
              </a:rPr>
              <a:t>48%</a:t>
            </a:r>
            <a:endParaRPr lang="en-US" sz="4200" dirty="0"/>
          </a:p>
        </p:txBody>
      </p:sp>
      <p:sp>
        <p:nvSpPr>
          <p:cNvPr id="6" name="Text 4"/>
          <p:cNvSpPr/>
          <p:nvPr/>
        </p:nvSpPr>
        <p:spPr>
          <a:xfrm>
            <a:off x="1022350" y="2213570"/>
            <a:ext cx="1896745" cy="642441"/>
          </a:xfrm>
          <a:prstGeom prst="rect">
            <a:avLst/>
          </a:prstGeom>
          <a:noFill/>
          <a:ln/>
        </p:spPr>
        <p:txBody>
          <a:bodyPr wrap="square" lIns="0" tIns="0" rIns="0" bIns="0" rtlCol="0" anchor="t">
            <a:normAutofit fontScale="47500" lnSpcReduction="20000"/>
          </a:bodyPr>
          <a:lstStyle/>
          <a:p>
            <a:pPr marL="0" indent="0" algn="l">
              <a:lnSpc>
                <a:spcPts val="1620"/>
              </a:lnSpc>
              <a:buNone/>
            </a:pPr>
            <a:r>
              <a:rPr lang="en-US" sz="1200" dirty="0">
                <a:solidFill>
                  <a:srgbClr val="4A493F"/>
                </a:solidFill>
                <a:latin typeface="Arial" pitchFamily="34" charset="0"/>
                <a:ea typeface="Arial" pitchFamily="34" charset="-122"/>
                <a:cs typeface="Arial" pitchFamily="34" charset="-120"/>
              </a:rPr>
              <a:t>of Americans paid for a trial they forgot to cancel.
</a:t>
            </a:r>
            <a:endParaRPr lang="en-US" sz="1200" dirty="0"/>
          </a:p>
        </p:txBody>
      </p:sp>
      <p:sp>
        <p:nvSpPr>
          <p:cNvPr id="7" name="Text 5"/>
          <p:cNvSpPr/>
          <p:nvPr/>
        </p:nvSpPr>
        <p:spPr>
          <a:xfrm>
            <a:off x="1022350" y="2881412"/>
            <a:ext cx="20864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2024 U.S. survey (9to5Mac)</a:t>
            </a:r>
            <a:endParaRPr lang="en-US" sz="1200" dirty="0"/>
          </a:p>
        </p:txBody>
      </p:sp>
      <p:pic>
        <p:nvPicPr>
          <p:cNvPr id="8" name="Image 0" descr="Shaded line chart: forgot to cancel a trial rises from 48% of all adults to 59% of Gen Z and 65% of millennials"/>
          <p:cNvPicPr>
            <a:picLocks noChangeAspect="1"/>
          </p:cNvPicPr>
          <p:nvPr/>
        </p:nvPicPr>
        <p:blipFill>
          <a:blip r:embed="rId3"/>
          <a:srcRect/>
          <a:stretch/>
        </p:blipFill>
        <p:spPr>
          <a:xfrm>
            <a:off x="3041650" y="1365250"/>
            <a:ext cx="2667000" cy="1206500"/>
          </a:xfrm>
          <a:prstGeom prst="rect">
            <a:avLst/>
          </a:prstGeom>
        </p:spPr>
      </p:pic>
      <p:sp>
        <p:nvSpPr>
          <p:cNvPr id="9" name="Text 6"/>
          <p:cNvSpPr/>
          <p:nvPr/>
        </p:nvSpPr>
        <p:spPr>
          <a:xfrm>
            <a:off x="3016250" y="2609850"/>
            <a:ext cx="93980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All</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48%</a:t>
            </a:r>
            <a:endParaRPr lang="en-US" sz="1200" dirty="0"/>
          </a:p>
        </p:txBody>
      </p:sp>
      <p:sp>
        <p:nvSpPr>
          <p:cNvPr id="10" name="Text 7"/>
          <p:cNvSpPr/>
          <p:nvPr/>
        </p:nvSpPr>
        <p:spPr>
          <a:xfrm>
            <a:off x="3905250" y="2609850"/>
            <a:ext cx="93980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Gen Z</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59%</a:t>
            </a:r>
            <a:endParaRPr lang="en-US" sz="1200" dirty="0"/>
          </a:p>
        </p:txBody>
      </p:sp>
      <p:sp>
        <p:nvSpPr>
          <p:cNvPr id="11" name="Text 8"/>
          <p:cNvSpPr/>
          <p:nvPr/>
        </p:nvSpPr>
        <p:spPr>
          <a:xfrm>
            <a:off x="4794250" y="2609850"/>
            <a:ext cx="93980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Millennials</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65%</a:t>
            </a:r>
            <a:endParaRPr lang="en-US" sz="1200" dirty="0"/>
          </a:p>
        </p:txBody>
      </p:sp>
      <p:sp>
        <p:nvSpPr>
          <p:cNvPr id="12" name="Shape 9"/>
          <p:cNvSpPr/>
          <p:nvPr/>
        </p:nvSpPr>
        <p:spPr>
          <a:xfrm>
            <a:off x="6191250" y="1184275"/>
            <a:ext cx="5191125" cy="2339975"/>
          </a:xfrm>
          <a:prstGeom prst="roundRect">
            <a:avLst>
              <a:gd name="adj" fmla="val 5292"/>
            </a:avLst>
          </a:prstGeom>
          <a:solidFill>
            <a:srgbClr val="FFFEFA"/>
          </a:solidFill>
          <a:ln w="6350">
            <a:solidFill>
              <a:srgbClr val="E7E4DB"/>
            </a:solidFill>
            <a:prstDash val="solid"/>
          </a:ln>
        </p:spPr>
      </p:sp>
      <p:sp>
        <p:nvSpPr>
          <p:cNvPr id="13" name="Text 10"/>
          <p:cNvSpPr/>
          <p:nvPr/>
        </p:nvSpPr>
        <p:spPr>
          <a:xfrm>
            <a:off x="6397625" y="1365250"/>
            <a:ext cx="2204149"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3C22"/>
                </a:solidFill>
                <a:latin typeface="Arial" pitchFamily="34" charset="0"/>
                <a:ea typeface="Arial" pitchFamily="34" charset="-122"/>
                <a:cs typeface="Arial" pitchFamily="34" charset="-120"/>
              </a:rPr>
              <a:t>2 · UNSPENT GIFT CARDS</a:t>
            </a:r>
            <a:endParaRPr lang="en-US" sz="1200" dirty="0"/>
          </a:p>
        </p:txBody>
      </p:sp>
      <p:sp>
        <p:nvSpPr>
          <p:cNvPr id="14" name="Text 11"/>
          <p:cNvSpPr/>
          <p:nvPr/>
        </p:nvSpPr>
        <p:spPr>
          <a:xfrm>
            <a:off x="6397625" y="1842691"/>
            <a:ext cx="1896745" cy="558800"/>
          </a:xfrm>
          <a:prstGeom prst="rect">
            <a:avLst/>
          </a:prstGeom>
          <a:noFill/>
          <a:ln/>
        </p:spPr>
        <p:txBody>
          <a:bodyPr wrap="square" lIns="0" tIns="0" rIns="0" bIns="0" rtlCol="0" anchor="t">
            <a:normAutofit/>
          </a:bodyPr>
          <a:lstStyle/>
          <a:p>
            <a:pPr marL="0" indent="0" algn="l">
              <a:lnSpc>
                <a:spcPts val="4200"/>
              </a:lnSpc>
              <a:buNone/>
            </a:pPr>
            <a:r>
              <a:rPr lang="en-US" sz="4200" b="1" kern="0" spc="-100" dirty="0">
                <a:solidFill>
                  <a:srgbClr val="292920"/>
                </a:solidFill>
                <a:latin typeface="Arial" pitchFamily="34" charset="0"/>
                <a:ea typeface="Arial" pitchFamily="34" charset="-122"/>
                <a:cs typeface="Arial" pitchFamily="34" charset="-120"/>
              </a:rPr>
              <a:t>$27B</a:t>
            </a:r>
            <a:endParaRPr lang="en-US" sz="4200" dirty="0"/>
          </a:p>
        </p:txBody>
      </p:sp>
      <p:sp>
        <p:nvSpPr>
          <p:cNvPr id="15" name="Text 12"/>
          <p:cNvSpPr/>
          <p:nvPr/>
        </p:nvSpPr>
        <p:spPr>
          <a:xfrm>
            <a:off x="6397625" y="2426891"/>
            <a:ext cx="1896745" cy="642441"/>
          </a:xfrm>
          <a:prstGeom prst="rect">
            <a:avLst/>
          </a:prstGeom>
          <a:noFill/>
          <a:ln/>
        </p:spPr>
        <p:txBody>
          <a:bodyPr wrap="square" lIns="0" tIns="0" rIns="0" bIns="0" rtlCol="0" anchor="t">
            <a:normAutofit fontScale="70000" lnSpcReduction="20000"/>
          </a:bodyPr>
          <a:lstStyle/>
          <a:p>
            <a:pPr marL="0" indent="0" algn="l">
              <a:lnSpc>
                <a:spcPts val="1620"/>
              </a:lnSpc>
              <a:buNone/>
            </a:pPr>
            <a:r>
              <a:rPr lang="en-US" sz="1200" dirty="0">
                <a:solidFill>
                  <a:srgbClr val="4A493F"/>
                </a:solidFill>
                <a:latin typeface="Arial" pitchFamily="34" charset="0"/>
                <a:ea typeface="Arial" pitchFamily="34" charset="-122"/>
                <a:cs typeface="Arial" pitchFamily="34" charset="-120"/>
              </a:rPr>
              <a:t>sits unspent on gift cards across the U.S.
</a:t>
            </a:r>
            <a:endParaRPr lang="en-US" sz="1200" dirty="0"/>
          </a:p>
        </p:txBody>
      </p:sp>
      <p:sp>
        <p:nvSpPr>
          <p:cNvPr id="16" name="Text 13"/>
          <p:cNvSpPr/>
          <p:nvPr/>
        </p:nvSpPr>
        <p:spPr>
          <a:xfrm>
            <a:off x="6397625" y="3094732"/>
            <a:ext cx="18967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Bankrate, 2023 and 2024</a:t>
            </a:r>
            <a:endParaRPr lang="en-US" sz="1200" dirty="0"/>
          </a:p>
        </p:txBody>
      </p:sp>
      <p:pic>
        <p:nvPicPr>
          <p:cNvPr id="17" name="Image 1" descr="Ring chart: 43% of adults hold an unused gift card"/>
          <p:cNvPicPr>
            <a:picLocks noChangeAspect="1"/>
          </p:cNvPicPr>
          <p:nvPr/>
        </p:nvPicPr>
        <p:blipFill>
          <a:blip r:embed="rId4"/>
          <a:srcRect/>
          <a:stretch/>
        </p:blipFill>
        <p:spPr>
          <a:xfrm>
            <a:off x="8416925" y="1618952"/>
            <a:ext cx="1206500" cy="1206500"/>
          </a:xfrm>
          <a:prstGeom prst="rect">
            <a:avLst/>
          </a:prstGeom>
        </p:spPr>
      </p:pic>
      <p:sp>
        <p:nvSpPr>
          <p:cNvPr id="18" name="Text 14"/>
          <p:cNvSpPr/>
          <p:nvPr/>
        </p:nvSpPr>
        <p:spPr>
          <a:xfrm>
            <a:off x="8391525" y="2076152"/>
            <a:ext cx="12573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292920"/>
                </a:solidFill>
                <a:latin typeface="Arial" pitchFamily="34" charset="0"/>
                <a:ea typeface="Arial" pitchFamily="34" charset="-122"/>
                <a:cs typeface="Arial" pitchFamily="34" charset="-120"/>
              </a:rPr>
              <a:t>43%</a:t>
            </a:r>
            <a:endParaRPr lang="en-US" sz="2000" dirty="0"/>
          </a:p>
        </p:txBody>
      </p:sp>
      <p:sp>
        <p:nvSpPr>
          <p:cNvPr id="19" name="Text 15"/>
          <p:cNvSpPr/>
          <p:nvPr/>
        </p:nvSpPr>
        <p:spPr>
          <a:xfrm>
            <a:off x="8669298" y="2876252"/>
            <a:ext cx="70175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93F"/>
                </a:solidFill>
                <a:latin typeface="Arial" pitchFamily="34" charset="0"/>
                <a:ea typeface="Arial" pitchFamily="34" charset="-122"/>
                <a:cs typeface="Arial" pitchFamily="34" charset="-120"/>
              </a:rPr>
              <a:t>hold one</a:t>
            </a:r>
            <a:endParaRPr lang="en-US" sz="1200" dirty="0"/>
          </a:p>
        </p:txBody>
      </p:sp>
      <p:pic>
        <p:nvPicPr>
          <p:cNvPr id="20" name="Image 2" descr="Stack of gold coins"/>
          <p:cNvPicPr>
            <a:picLocks noChangeAspect="1"/>
          </p:cNvPicPr>
          <p:nvPr/>
        </p:nvPicPr>
        <p:blipFill>
          <a:blip r:embed="rId5"/>
          <a:srcRect/>
          <a:stretch/>
        </p:blipFill>
        <p:spPr>
          <a:xfrm>
            <a:off x="9999663" y="1711722"/>
            <a:ext cx="952500" cy="825500"/>
          </a:xfrm>
          <a:prstGeom prst="rect">
            <a:avLst/>
          </a:prstGeom>
        </p:spPr>
      </p:pic>
      <p:sp>
        <p:nvSpPr>
          <p:cNvPr id="21" name="Text 16"/>
          <p:cNvSpPr/>
          <p:nvPr/>
        </p:nvSpPr>
        <p:spPr>
          <a:xfrm>
            <a:off x="9875738" y="2600722"/>
            <a:ext cx="1200348"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292920"/>
                </a:solidFill>
                <a:latin typeface="Arial" pitchFamily="34" charset="0"/>
                <a:ea typeface="Arial" pitchFamily="34" charset="-122"/>
                <a:cs typeface="Arial" pitchFamily="34" charset="-120"/>
              </a:rPr>
              <a:t>Average unspent</a:t>
            </a:r>
            <a:endParaRPr lang="en-US" sz="1200" dirty="0"/>
          </a:p>
          <a:p>
            <a:pPr marL="0" indent="0" algn="ctr">
              <a:lnSpc>
                <a:spcPts val="1560"/>
              </a:lnSpc>
              <a:buNone/>
            </a:pPr>
            <a:r>
              <a:rPr lang="en-US" sz="1200" b="1" dirty="0">
                <a:solidFill>
                  <a:srgbClr val="292920"/>
                </a:solidFill>
                <a:latin typeface="Arial" pitchFamily="34" charset="0"/>
                <a:ea typeface="Arial" pitchFamily="34" charset="-122"/>
                <a:cs typeface="Arial" pitchFamily="34" charset="-120"/>
              </a:rPr>
              <a:t>$187 → $244</a:t>
            </a:r>
            <a:endParaRPr lang="en-US" sz="1200" dirty="0"/>
          </a:p>
        </p:txBody>
      </p:sp>
      <p:sp>
        <p:nvSpPr>
          <p:cNvPr id="22" name="Shape 17"/>
          <p:cNvSpPr/>
          <p:nvPr/>
        </p:nvSpPr>
        <p:spPr>
          <a:xfrm>
            <a:off x="815975" y="3708400"/>
            <a:ext cx="5191125" cy="2339975"/>
          </a:xfrm>
          <a:prstGeom prst="roundRect">
            <a:avLst>
              <a:gd name="adj" fmla="val 5292"/>
            </a:avLst>
          </a:prstGeom>
          <a:solidFill>
            <a:srgbClr val="FFFEFA"/>
          </a:solidFill>
          <a:ln w="6350">
            <a:solidFill>
              <a:srgbClr val="E7E4DB"/>
            </a:solidFill>
            <a:prstDash val="solid"/>
          </a:ln>
        </p:spPr>
      </p:sp>
      <p:sp>
        <p:nvSpPr>
          <p:cNvPr id="23" name="Text 18"/>
          <p:cNvSpPr/>
          <p:nvPr/>
        </p:nvSpPr>
        <p:spPr>
          <a:xfrm>
            <a:off x="1022350" y="3889375"/>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3C22"/>
                </a:solidFill>
                <a:latin typeface="Arial" pitchFamily="34" charset="0"/>
                <a:ea typeface="Arial" pitchFamily="34" charset="-122"/>
                <a:cs typeface="Arial" pitchFamily="34" charset="-120"/>
              </a:rPr>
              <a:t>3 · HIDDEN LOANS</a:t>
            </a:r>
            <a:endParaRPr lang="en-US" sz="1200" dirty="0"/>
          </a:p>
        </p:txBody>
      </p:sp>
      <p:sp>
        <p:nvSpPr>
          <p:cNvPr id="24" name="Text 19"/>
          <p:cNvSpPr/>
          <p:nvPr/>
        </p:nvSpPr>
        <p:spPr>
          <a:xfrm>
            <a:off x="1022350" y="4153495"/>
            <a:ext cx="1896745" cy="558800"/>
          </a:xfrm>
          <a:prstGeom prst="rect">
            <a:avLst/>
          </a:prstGeom>
          <a:noFill/>
          <a:ln/>
        </p:spPr>
        <p:txBody>
          <a:bodyPr wrap="square" lIns="0" tIns="0" rIns="0" bIns="0" rtlCol="0" anchor="t">
            <a:normAutofit/>
          </a:bodyPr>
          <a:lstStyle/>
          <a:p>
            <a:pPr marL="0" indent="0" algn="l">
              <a:lnSpc>
                <a:spcPts val="4200"/>
              </a:lnSpc>
              <a:buNone/>
            </a:pPr>
            <a:r>
              <a:rPr lang="en-US" sz="4200" b="1" kern="0" spc="-100" dirty="0">
                <a:solidFill>
                  <a:srgbClr val="292920"/>
                </a:solidFill>
                <a:latin typeface="Arial" pitchFamily="34" charset="0"/>
                <a:ea typeface="Arial" pitchFamily="34" charset="-122"/>
                <a:cs typeface="Arial" pitchFamily="34" charset="-120"/>
              </a:rPr>
              <a:t>28%</a:t>
            </a:r>
            <a:endParaRPr lang="en-US" sz="4200" dirty="0"/>
          </a:p>
        </p:txBody>
      </p:sp>
      <p:sp>
        <p:nvSpPr>
          <p:cNvPr id="25" name="Text 20"/>
          <p:cNvSpPr/>
          <p:nvPr/>
        </p:nvSpPr>
        <p:spPr>
          <a:xfrm>
            <a:off x="1022350" y="4737695"/>
            <a:ext cx="2040636" cy="642441"/>
          </a:xfrm>
          <a:prstGeom prst="rect">
            <a:avLst/>
          </a:prstGeom>
          <a:noFill/>
          <a:ln/>
        </p:spPr>
        <p:txBody>
          <a:bodyPr wrap="square" lIns="0" tIns="0" rIns="0" bIns="0" rtlCol="0" anchor="t">
            <a:normAutofit fontScale="47500" lnSpcReduction="20000"/>
          </a:bodyPr>
          <a:lstStyle/>
          <a:p>
            <a:pPr marL="0" indent="0" algn="l">
              <a:lnSpc>
                <a:spcPts val="1620"/>
              </a:lnSpc>
              <a:buNone/>
            </a:pPr>
            <a:r>
              <a:rPr lang="en-US" sz="1200" dirty="0">
                <a:solidFill>
                  <a:srgbClr val="4A493F"/>
                </a:solidFill>
                <a:latin typeface="Arial" pitchFamily="34" charset="0"/>
                <a:ea typeface="Arial" pitchFamily="34" charset="-122"/>
                <a:cs typeface="Arial" pitchFamily="34" charset="-120"/>
              </a:rPr>
              <a:t>of first-year borrowers said they had no federal loans.
</a:t>
            </a:r>
            <a:endParaRPr lang="en-US" sz="1200" dirty="0"/>
          </a:p>
        </p:txBody>
      </p:sp>
      <p:sp>
        <p:nvSpPr>
          <p:cNvPr id="26" name="Text 21"/>
          <p:cNvSpPr/>
          <p:nvPr/>
        </p:nvSpPr>
        <p:spPr>
          <a:xfrm>
            <a:off x="1022350" y="5405537"/>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Akers &amp; Chingos, Brookings</a:t>
            </a:r>
            <a:endParaRPr lang="en-US" sz="1200" dirty="0"/>
          </a:p>
        </p:txBody>
      </p:sp>
      <p:pic>
        <p:nvPicPr>
          <p:cNvPr id="27" name="Image 3" descr="Ring chart: 28% said they had no federal loans"/>
          <p:cNvPicPr>
            <a:picLocks noChangeAspect="1"/>
          </p:cNvPicPr>
          <p:nvPr/>
        </p:nvPicPr>
        <p:blipFill>
          <a:blip r:embed="rId6"/>
          <a:srcRect/>
          <a:stretch/>
        </p:blipFill>
        <p:spPr>
          <a:xfrm>
            <a:off x="3184624" y="4174827"/>
            <a:ext cx="1143000" cy="1143000"/>
          </a:xfrm>
          <a:prstGeom prst="rect">
            <a:avLst/>
          </a:prstGeom>
        </p:spPr>
      </p:pic>
      <p:sp>
        <p:nvSpPr>
          <p:cNvPr id="28" name="Text 22"/>
          <p:cNvSpPr/>
          <p:nvPr/>
        </p:nvSpPr>
        <p:spPr>
          <a:xfrm>
            <a:off x="3159224" y="4606627"/>
            <a:ext cx="1193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292920"/>
                </a:solidFill>
                <a:latin typeface="Arial" pitchFamily="34" charset="0"/>
                <a:ea typeface="Arial" pitchFamily="34" charset="-122"/>
                <a:cs typeface="Arial" pitchFamily="34" charset="-120"/>
              </a:rPr>
              <a:t>28%</a:t>
            </a:r>
            <a:endParaRPr lang="en-US" sz="2000" dirty="0"/>
          </a:p>
        </p:txBody>
      </p:sp>
      <p:sp>
        <p:nvSpPr>
          <p:cNvPr id="29" name="Text 23"/>
          <p:cNvSpPr/>
          <p:nvPr/>
        </p:nvSpPr>
        <p:spPr>
          <a:xfrm>
            <a:off x="3115310" y="5368627"/>
            <a:ext cx="128162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93F"/>
                </a:solidFill>
                <a:latin typeface="Arial" pitchFamily="34" charset="0"/>
                <a:ea typeface="Arial" pitchFamily="34" charset="-122"/>
                <a:cs typeface="Arial" pitchFamily="34" charset="-120"/>
              </a:rPr>
              <a:t>“no federal loans”</a:t>
            </a:r>
            <a:endParaRPr lang="en-US" sz="1200" dirty="0"/>
          </a:p>
        </p:txBody>
      </p:sp>
      <p:pic>
        <p:nvPicPr>
          <p:cNvPr id="30" name="Image 4" descr="Ring chart: 14% said they had no student debt at all"/>
          <p:cNvPicPr>
            <a:picLocks noChangeAspect="1"/>
          </p:cNvPicPr>
          <p:nvPr/>
        </p:nvPicPr>
        <p:blipFill>
          <a:blip r:embed="rId7"/>
          <a:srcRect/>
          <a:stretch/>
        </p:blipFill>
        <p:spPr>
          <a:xfrm>
            <a:off x="4531519" y="4174827"/>
            <a:ext cx="1143000" cy="1143000"/>
          </a:xfrm>
          <a:prstGeom prst="rect">
            <a:avLst/>
          </a:prstGeom>
        </p:spPr>
      </p:pic>
      <p:sp>
        <p:nvSpPr>
          <p:cNvPr id="31" name="Text 24"/>
          <p:cNvSpPr/>
          <p:nvPr/>
        </p:nvSpPr>
        <p:spPr>
          <a:xfrm>
            <a:off x="4506119" y="4606627"/>
            <a:ext cx="1193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292920"/>
                </a:solidFill>
                <a:latin typeface="Arial" pitchFamily="34" charset="0"/>
                <a:ea typeface="Arial" pitchFamily="34" charset="-122"/>
                <a:cs typeface="Arial" pitchFamily="34" charset="-120"/>
              </a:rPr>
              <a:t>14%</a:t>
            </a:r>
            <a:endParaRPr lang="en-US" sz="2000" dirty="0"/>
          </a:p>
        </p:txBody>
      </p:sp>
      <p:sp>
        <p:nvSpPr>
          <p:cNvPr id="32" name="Text 25"/>
          <p:cNvSpPr/>
          <p:nvPr/>
        </p:nvSpPr>
        <p:spPr>
          <a:xfrm>
            <a:off x="4438055" y="5368627"/>
            <a:ext cx="133002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93F"/>
                </a:solidFill>
                <a:latin typeface="Arial" pitchFamily="34" charset="0"/>
                <a:ea typeface="Arial" pitchFamily="34" charset="-122"/>
                <a:cs typeface="Arial" pitchFamily="34" charset="-120"/>
              </a:rPr>
              <a:t>“no student debt”</a:t>
            </a:r>
            <a:endParaRPr lang="en-US" sz="1200" dirty="0"/>
          </a:p>
        </p:txBody>
      </p:sp>
      <p:sp>
        <p:nvSpPr>
          <p:cNvPr id="33" name="Shape 26"/>
          <p:cNvSpPr/>
          <p:nvPr/>
        </p:nvSpPr>
        <p:spPr>
          <a:xfrm>
            <a:off x="6191250" y="3708400"/>
            <a:ext cx="5191125" cy="2339975"/>
          </a:xfrm>
          <a:prstGeom prst="roundRect">
            <a:avLst>
              <a:gd name="adj" fmla="val 5292"/>
            </a:avLst>
          </a:prstGeom>
          <a:solidFill>
            <a:srgbClr val="FFFEFA"/>
          </a:solidFill>
          <a:ln w="6350">
            <a:solidFill>
              <a:srgbClr val="E7E4DB"/>
            </a:solidFill>
            <a:prstDash val="solid"/>
          </a:ln>
        </p:spPr>
      </p:sp>
      <p:sp>
        <p:nvSpPr>
          <p:cNvPr id="34" name="Text 27"/>
          <p:cNvSpPr/>
          <p:nvPr/>
        </p:nvSpPr>
        <p:spPr>
          <a:xfrm>
            <a:off x="6397625" y="3889375"/>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3C22"/>
                </a:solidFill>
                <a:latin typeface="Arial" pitchFamily="34" charset="0"/>
                <a:ea typeface="Arial" pitchFamily="34" charset="-122"/>
                <a:cs typeface="Arial" pitchFamily="34" charset="-120"/>
              </a:rPr>
              <a:t>4 · WHO TO TRUST</a:t>
            </a:r>
            <a:endParaRPr lang="en-US" sz="1200" dirty="0"/>
          </a:p>
        </p:txBody>
      </p:sp>
      <p:sp>
        <p:nvSpPr>
          <p:cNvPr id="35" name="Text 28"/>
          <p:cNvSpPr/>
          <p:nvPr/>
        </p:nvSpPr>
        <p:spPr>
          <a:xfrm>
            <a:off x="6397625" y="4153495"/>
            <a:ext cx="1896745" cy="558800"/>
          </a:xfrm>
          <a:prstGeom prst="rect">
            <a:avLst/>
          </a:prstGeom>
          <a:noFill/>
          <a:ln/>
        </p:spPr>
        <p:txBody>
          <a:bodyPr wrap="square" lIns="0" tIns="0" rIns="0" bIns="0" rtlCol="0" anchor="t">
            <a:normAutofit/>
          </a:bodyPr>
          <a:lstStyle/>
          <a:p>
            <a:pPr marL="0" indent="0" algn="l">
              <a:lnSpc>
                <a:spcPts val="4200"/>
              </a:lnSpc>
              <a:buNone/>
            </a:pPr>
            <a:r>
              <a:rPr lang="en-US" sz="4200" b="1" kern="0" spc="-100" dirty="0">
                <a:solidFill>
                  <a:srgbClr val="292920"/>
                </a:solidFill>
                <a:latin typeface="Arial" pitchFamily="34" charset="0"/>
                <a:ea typeface="Arial" pitchFamily="34" charset="-122"/>
                <a:cs typeface="Arial" pitchFamily="34" charset="-120"/>
              </a:rPr>
              <a:t>48%</a:t>
            </a:r>
            <a:endParaRPr lang="en-US" sz="4200" dirty="0"/>
          </a:p>
        </p:txBody>
      </p:sp>
      <p:sp>
        <p:nvSpPr>
          <p:cNvPr id="36" name="Text 29"/>
          <p:cNvSpPr/>
          <p:nvPr/>
        </p:nvSpPr>
        <p:spPr>
          <a:xfrm>
            <a:off x="6397625" y="4737695"/>
            <a:ext cx="2060257" cy="642441"/>
          </a:xfrm>
          <a:prstGeom prst="rect">
            <a:avLst/>
          </a:prstGeom>
          <a:noFill/>
          <a:ln/>
        </p:spPr>
        <p:txBody>
          <a:bodyPr wrap="square" lIns="0" tIns="0" rIns="0" bIns="0" rtlCol="0" anchor="t">
            <a:normAutofit fontScale="47500" lnSpcReduction="20000"/>
          </a:bodyPr>
          <a:lstStyle/>
          <a:p>
            <a:pPr marL="0" indent="0" algn="l">
              <a:lnSpc>
                <a:spcPts val="1620"/>
              </a:lnSpc>
              <a:buNone/>
            </a:pPr>
            <a:r>
              <a:rPr lang="en-US" sz="1200" dirty="0">
                <a:solidFill>
                  <a:srgbClr val="4A493F"/>
                </a:solidFill>
                <a:latin typeface="Arial" pitchFamily="34" charset="0"/>
                <a:ea typeface="Arial" pitchFamily="34" charset="-122"/>
                <a:cs typeface="Arial" pitchFamily="34" charset="-120"/>
              </a:rPr>
              <a:t>of Gen Z investors learned investing from social media.
</a:t>
            </a:r>
            <a:endParaRPr lang="en-US" sz="1200" dirty="0"/>
          </a:p>
        </p:txBody>
      </p:sp>
      <p:sp>
        <p:nvSpPr>
          <p:cNvPr id="37" name="Text 30"/>
          <p:cNvSpPr/>
          <p:nvPr/>
        </p:nvSpPr>
        <p:spPr>
          <a:xfrm>
            <a:off x="6397625" y="5405537"/>
            <a:ext cx="2361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FINRA Foundation &amp; CFA, 2023</a:t>
            </a:r>
            <a:endParaRPr lang="en-US" sz="1200" dirty="0"/>
          </a:p>
        </p:txBody>
      </p:sp>
      <p:pic>
        <p:nvPicPr>
          <p:cNvPr id="38" name="Image 5" descr="Shaded line chart: where Gen Z investors learned investing falls from social media 48% and internet search 47% to family 45% and a professional 30%"/>
          <p:cNvPicPr>
            <a:picLocks noChangeAspect="1"/>
          </p:cNvPicPr>
          <p:nvPr/>
        </p:nvPicPr>
        <p:blipFill>
          <a:blip r:embed="rId8"/>
          <a:srcRect/>
          <a:stretch/>
        </p:blipFill>
        <p:spPr>
          <a:xfrm>
            <a:off x="8416925" y="3889375"/>
            <a:ext cx="2667000" cy="1206500"/>
          </a:xfrm>
          <a:prstGeom prst="rect">
            <a:avLst/>
          </a:prstGeom>
        </p:spPr>
      </p:pic>
      <p:sp>
        <p:nvSpPr>
          <p:cNvPr id="39" name="Text 31"/>
          <p:cNvSpPr/>
          <p:nvPr/>
        </p:nvSpPr>
        <p:spPr>
          <a:xfrm>
            <a:off x="8391525" y="5133975"/>
            <a:ext cx="71755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Social</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48%</a:t>
            </a:r>
            <a:endParaRPr lang="en-US" sz="1200" dirty="0"/>
          </a:p>
        </p:txBody>
      </p:sp>
      <p:sp>
        <p:nvSpPr>
          <p:cNvPr id="40" name="Text 32"/>
          <p:cNvSpPr/>
          <p:nvPr/>
        </p:nvSpPr>
        <p:spPr>
          <a:xfrm>
            <a:off x="9058275" y="5133975"/>
            <a:ext cx="71755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Search</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47%</a:t>
            </a:r>
            <a:endParaRPr lang="en-US" sz="1200" dirty="0"/>
          </a:p>
        </p:txBody>
      </p:sp>
      <p:sp>
        <p:nvSpPr>
          <p:cNvPr id="41" name="Text 33"/>
          <p:cNvSpPr/>
          <p:nvPr/>
        </p:nvSpPr>
        <p:spPr>
          <a:xfrm>
            <a:off x="9725025" y="5133975"/>
            <a:ext cx="71755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Family</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45%</a:t>
            </a:r>
            <a:endParaRPr lang="en-US" sz="1200" dirty="0"/>
          </a:p>
        </p:txBody>
      </p:sp>
      <p:sp>
        <p:nvSpPr>
          <p:cNvPr id="42" name="Text 34"/>
          <p:cNvSpPr/>
          <p:nvPr/>
        </p:nvSpPr>
        <p:spPr>
          <a:xfrm>
            <a:off x="10391775" y="5133975"/>
            <a:ext cx="71755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92920"/>
                </a:solidFill>
                <a:latin typeface="Arial" pitchFamily="34" charset="0"/>
                <a:ea typeface="Arial" pitchFamily="34" charset="-122"/>
                <a:cs typeface="Arial" pitchFamily="34" charset="-120"/>
              </a:rPr>
              <a:t>Pro</a:t>
            </a:r>
            <a:endParaRPr lang="en-US" sz="1200" dirty="0"/>
          </a:p>
          <a:p>
            <a:pPr marL="0" indent="0" algn="ctr">
              <a:lnSpc>
                <a:spcPts val="1440"/>
              </a:lnSpc>
              <a:buNone/>
            </a:pPr>
            <a:r>
              <a:rPr lang="en-US" sz="1200" b="1" dirty="0">
                <a:solidFill>
                  <a:srgbClr val="292920"/>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Where student need meets a market gap</a:t>
            </a:r>
            <a:endParaRPr lang="en-US" sz="3600" dirty="0"/>
          </a:p>
        </p:txBody>
      </p:sp>
      <p:pic>
        <p:nvPicPr>
          <p:cNvPr id="3" name="Image 0" descr="ellipse"/>
          <p:cNvPicPr>
            <a:picLocks noChangeAspect="1"/>
          </p:cNvPicPr>
          <p:nvPr/>
        </p:nvPicPr>
        <p:blipFill>
          <a:blip r:embed="rId3"/>
          <a:srcRect/>
          <a:stretch/>
        </p:blipFill>
        <p:spPr>
          <a:xfrm>
            <a:off x="1101213" y="1518840"/>
            <a:ext cx="5629787" cy="4380513"/>
          </a:xfrm>
          <a:prstGeom prst="rect">
            <a:avLst/>
          </a:prstGeom>
        </p:spPr>
      </p:pic>
      <p:pic>
        <p:nvPicPr>
          <p:cNvPr id="4" name="Image 1" descr="ellipse"/>
          <p:cNvPicPr>
            <a:picLocks noChangeAspect="1"/>
          </p:cNvPicPr>
          <p:nvPr/>
        </p:nvPicPr>
        <p:blipFill>
          <a:blip r:embed="rId4"/>
          <a:srcRect/>
          <a:stretch/>
        </p:blipFill>
        <p:spPr>
          <a:xfrm>
            <a:off x="5218491" y="1553564"/>
            <a:ext cx="5629787" cy="4380514"/>
          </a:xfrm>
          <a:prstGeom prst="rect">
            <a:avLst/>
          </a:prstGeom>
        </p:spPr>
      </p:pic>
      <p:sp>
        <p:nvSpPr>
          <p:cNvPr id="5" name="Text 1"/>
          <p:cNvSpPr/>
          <p:nvPr/>
        </p:nvSpPr>
        <p:spPr>
          <a:xfrm>
            <a:off x="2374183" y="2178345"/>
            <a:ext cx="3124917" cy="421481"/>
          </a:xfrm>
          <a:prstGeom prst="rect">
            <a:avLst/>
          </a:prstGeom>
          <a:noFill/>
          <a:ln/>
        </p:spPr>
        <p:txBody>
          <a:bodyPr wrap="square" lIns="0" tIns="0" rIns="0" bIns="0" rtlCol="0" anchor="t">
            <a:noAutofit/>
          </a:bodyPr>
          <a:lstStyle/>
          <a:p>
            <a:pPr marL="0" indent="0" algn="l">
              <a:lnSpc>
                <a:spcPts val="1680"/>
              </a:lnSpc>
              <a:buNone/>
            </a:pPr>
            <a:r>
              <a:rPr lang="en-US" b="1" kern="0" spc="100" dirty="0">
                <a:solidFill>
                  <a:srgbClr val="B13C22"/>
                </a:solidFill>
                <a:latin typeface="Arial" pitchFamily="34" charset="0"/>
                <a:ea typeface="Arial" pitchFamily="34" charset="-122"/>
                <a:cs typeface="Arial" pitchFamily="34" charset="-120"/>
              </a:rPr>
              <a:t>WHAT STUDENTS NEED</a:t>
            </a:r>
            <a:endParaRPr lang="en-US" dirty="0"/>
          </a:p>
        </p:txBody>
      </p:sp>
      <p:sp>
        <p:nvSpPr>
          <p:cNvPr id="6" name="Text 2"/>
          <p:cNvSpPr/>
          <p:nvPr/>
        </p:nvSpPr>
        <p:spPr>
          <a:xfrm>
            <a:off x="3048000" y="2458641"/>
            <a:ext cx="2289175"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292920"/>
                </a:solidFill>
                <a:latin typeface="Arial" pitchFamily="34" charset="0"/>
                <a:ea typeface="Arial" pitchFamily="34" charset="-122"/>
                <a:cs typeface="Arial" pitchFamily="34" charset="-120"/>
              </a:rPr>
              <a:t>User needs</a:t>
            </a:r>
            <a:endParaRPr lang="en-US" dirty="0"/>
          </a:p>
        </p:txBody>
      </p:sp>
      <p:sp>
        <p:nvSpPr>
          <p:cNvPr id="7" name="Text 3"/>
          <p:cNvSpPr/>
          <p:nvPr/>
        </p:nvSpPr>
        <p:spPr>
          <a:xfrm>
            <a:off x="2094272" y="2712641"/>
            <a:ext cx="3242904"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One clear next step at the moment money moves.</a:t>
            </a:r>
            <a:endParaRPr lang="en-US" sz="1600" dirty="0"/>
          </a:p>
        </p:txBody>
      </p:sp>
      <p:sp>
        <p:nvSpPr>
          <p:cNvPr id="8" name="Text 4"/>
          <p:cNvSpPr/>
          <p:nvPr/>
        </p:nvSpPr>
        <p:spPr>
          <a:xfrm>
            <a:off x="3048000" y="3248422"/>
            <a:ext cx="2289175"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292920"/>
                </a:solidFill>
                <a:latin typeface="Arial" pitchFamily="34" charset="0"/>
                <a:ea typeface="Arial" pitchFamily="34" charset="-122"/>
                <a:cs typeface="Arial" pitchFamily="34" charset="-120"/>
              </a:rPr>
              <a:t>Pain points</a:t>
            </a:r>
            <a:endParaRPr lang="en-US" dirty="0"/>
          </a:p>
        </p:txBody>
      </p:sp>
      <p:sp>
        <p:nvSpPr>
          <p:cNvPr id="9" name="Text 5"/>
          <p:cNvSpPr/>
          <p:nvPr/>
        </p:nvSpPr>
        <p:spPr>
          <a:xfrm>
            <a:off x="2094272" y="3502422"/>
            <a:ext cx="3242904"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Forgotten trials, hidden loans, idle gift cards.</a:t>
            </a:r>
            <a:endParaRPr lang="en-US" sz="1600" dirty="0"/>
          </a:p>
        </p:txBody>
      </p:sp>
      <p:sp>
        <p:nvSpPr>
          <p:cNvPr id="10" name="Text 6"/>
          <p:cNvSpPr/>
          <p:nvPr/>
        </p:nvSpPr>
        <p:spPr>
          <a:xfrm>
            <a:off x="3048000" y="4038203"/>
            <a:ext cx="2289175"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292920"/>
                </a:solidFill>
                <a:latin typeface="Arial" pitchFamily="34" charset="0"/>
                <a:ea typeface="Arial" pitchFamily="34" charset="-122"/>
                <a:cs typeface="Arial" pitchFamily="34" charset="-120"/>
              </a:rPr>
              <a:t>Unmet demand</a:t>
            </a:r>
            <a:endParaRPr lang="en-US" dirty="0"/>
          </a:p>
        </p:txBody>
      </p:sp>
      <p:sp>
        <p:nvSpPr>
          <p:cNvPr id="11" name="Text 7"/>
          <p:cNvSpPr/>
          <p:nvPr/>
        </p:nvSpPr>
        <p:spPr>
          <a:xfrm>
            <a:off x="2094272" y="4292203"/>
            <a:ext cx="3242903"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59% of Gen Z paid for a trial they forgot.</a:t>
            </a:r>
            <a:endParaRPr lang="en-US" sz="1600" dirty="0"/>
          </a:p>
        </p:txBody>
      </p:sp>
      <p:sp>
        <p:nvSpPr>
          <p:cNvPr id="12" name="Text 8"/>
          <p:cNvSpPr/>
          <p:nvPr/>
        </p:nvSpPr>
        <p:spPr>
          <a:xfrm>
            <a:off x="6295327" y="2181547"/>
            <a:ext cx="3476113" cy="452041"/>
          </a:xfrm>
          <a:prstGeom prst="rect">
            <a:avLst/>
          </a:prstGeom>
          <a:noFill/>
          <a:ln/>
        </p:spPr>
        <p:txBody>
          <a:bodyPr wrap="square" lIns="0" tIns="0" rIns="0" bIns="0" rtlCol="0" anchor="t">
            <a:normAutofit/>
          </a:bodyPr>
          <a:lstStyle/>
          <a:p>
            <a:pPr marL="0" indent="0" algn="l">
              <a:lnSpc>
                <a:spcPts val="1680"/>
              </a:lnSpc>
              <a:buNone/>
            </a:pPr>
            <a:r>
              <a:rPr lang="en-US" b="1" kern="0" spc="100" dirty="0">
                <a:solidFill>
                  <a:srgbClr val="292920"/>
                </a:solidFill>
                <a:latin typeface="Arial" pitchFamily="34" charset="0"/>
                <a:ea typeface="Arial" pitchFamily="34" charset="-122"/>
                <a:cs typeface="Arial" pitchFamily="34" charset="-120"/>
              </a:rPr>
              <a:t>WHAT THE MARKET MISSES</a:t>
            </a:r>
            <a:endParaRPr lang="en-US" dirty="0"/>
          </a:p>
        </p:txBody>
      </p:sp>
      <p:sp>
        <p:nvSpPr>
          <p:cNvPr id="13" name="Text 9"/>
          <p:cNvSpPr/>
          <p:nvPr/>
        </p:nvSpPr>
        <p:spPr>
          <a:xfrm>
            <a:off x="6892085" y="2577991"/>
            <a:ext cx="2223770"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292920"/>
                </a:solidFill>
                <a:latin typeface="Arial" pitchFamily="34" charset="0"/>
                <a:ea typeface="Arial" pitchFamily="34" charset="-122"/>
                <a:cs typeface="Arial" pitchFamily="34" charset="-120"/>
              </a:rPr>
              <a:t>Market gap</a:t>
            </a:r>
            <a:endParaRPr lang="en-US" sz="1600" dirty="0"/>
          </a:p>
        </p:txBody>
      </p:sp>
      <p:sp>
        <p:nvSpPr>
          <p:cNvPr id="14" name="Text 10"/>
          <p:cNvSpPr/>
          <p:nvPr/>
        </p:nvSpPr>
        <p:spPr>
          <a:xfrm>
            <a:off x="6921500" y="2916917"/>
            <a:ext cx="3284384" cy="619522"/>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Budgeting apps skip refunds, gift cards and practice investing.</a:t>
            </a:r>
            <a:endParaRPr lang="en-US" sz="1600" dirty="0"/>
          </a:p>
        </p:txBody>
      </p:sp>
      <p:sp>
        <p:nvSpPr>
          <p:cNvPr id="15" name="Text 11"/>
          <p:cNvSpPr/>
          <p:nvPr/>
        </p:nvSpPr>
        <p:spPr>
          <a:xfrm>
            <a:off x="6921500" y="3446463"/>
            <a:ext cx="2223770"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292920"/>
                </a:solidFill>
                <a:latin typeface="Arial" pitchFamily="34" charset="0"/>
                <a:ea typeface="Arial" pitchFamily="34" charset="-122"/>
                <a:cs typeface="Arial" pitchFamily="34" charset="-120"/>
              </a:rPr>
              <a:t>Timing</a:t>
            </a:r>
            <a:endParaRPr lang="en-US" sz="1600" dirty="0"/>
          </a:p>
        </p:txBody>
      </p:sp>
      <p:sp>
        <p:nvSpPr>
          <p:cNvPr id="16" name="Text 12"/>
          <p:cNvSpPr/>
          <p:nvPr/>
        </p:nvSpPr>
        <p:spPr>
          <a:xfrm>
            <a:off x="6921499" y="3700463"/>
            <a:ext cx="3476113"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48% of Gen Z investors learn from social media.</a:t>
            </a:r>
            <a:endParaRPr lang="en-US" sz="1600" dirty="0"/>
          </a:p>
        </p:txBody>
      </p:sp>
      <p:sp>
        <p:nvSpPr>
          <p:cNvPr id="17" name="Text 13"/>
          <p:cNvSpPr/>
          <p:nvPr/>
        </p:nvSpPr>
        <p:spPr>
          <a:xfrm>
            <a:off x="6892085" y="4295280"/>
            <a:ext cx="2223770"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292920"/>
                </a:solidFill>
                <a:latin typeface="Arial" pitchFamily="34" charset="0"/>
                <a:ea typeface="Arial" pitchFamily="34" charset="-122"/>
                <a:cs typeface="Arial" pitchFamily="34" charset="-120"/>
              </a:rPr>
              <a:t>Scalability</a:t>
            </a:r>
            <a:endParaRPr lang="en-US" sz="1600" dirty="0"/>
          </a:p>
        </p:txBody>
      </p:sp>
      <p:sp>
        <p:nvSpPr>
          <p:cNvPr id="18" name="Text 14"/>
          <p:cNvSpPr/>
          <p:nvPr/>
        </p:nvSpPr>
        <p:spPr>
          <a:xfrm>
            <a:off x="6854827" y="4566642"/>
            <a:ext cx="3596402"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Web, WhatsApp, phone, bank white-label and an API.</a:t>
            </a:r>
            <a:endParaRPr lang="en-US" sz="1600" dirty="0"/>
          </a:p>
        </p:txBody>
      </p:sp>
      <p:sp>
        <p:nvSpPr>
          <p:cNvPr id="19" name="Text 15"/>
          <p:cNvSpPr/>
          <p:nvPr/>
        </p:nvSpPr>
        <p:spPr>
          <a:xfrm>
            <a:off x="5612497" y="3220641"/>
            <a:ext cx="966907" cy="523180"/>
          </a:xfrm>
          <a:prstGeom prst="rect">
            <a:avLst/>
          </a:prstGeom>
          <a:noFill/>
          <a:ln/>
        </p:spPr>
        <p:txBody>
          <a:bodyPr wrap="square" lIns="0" tIns="0" rIns="0" bIns="0" rtlCol="0" anchor="t">
            <a:normAutofit/>
          </a:bodyPr>
          <a:lstStyle/>
          <a:p>
            <a:pPr marL="0" indent="0" algn="ctr">
              <a:lnSpc>
                <a:spcPts val="3920"/>
              </a:lnSpc>
              <a:buNone/>
            </a:pPr>
            <a:r>
              <a:rPr lang="en-US" sz="2800" b="1" kern="0" spc="-100" dirty="0">
                <a:solidFill>
                  <a:srgbClr val="292920"/>
                </a:solidFill>
                <a:latin typeface="Arial" pitchFamily="34" charset="0"/>
                <a:ea typeface="Arial" pitchFamily="34" charset="-122"/>
                <a:cs typeface="Arial" pitchFamily="34" charset="-120"/>
              </a:rPr>
              <a:t>br</a:t>
            </a:r>
            <a:r>
              <a:rPr lang="en-US" sz="2800" b="1" kern="0" spc="-100" dirty="0">
                <a:solidFill>
                  <a:srgbClr val="C8462A"/>
                </a:solidFill>
                <a:latin typeface="Arial" pitchFamily="34" charset="0"/>
                <a:ea typeface="Arial" pitchFamily="34" charset="-122"/>
                <a:cs typeface="Arial" pitchFamily="34" charset="-120"/>
              </a:rPr>
              <a:t>i</a:t>
            </a:r>
            <a:r>
              <a:rPr lang="en-US" sz="2800" b="1" kern="0" spc="-100" dirty="0">
                <a:solidFill>
                  <a:srgbClr val="292920"/>
                </a:solidFill>
                <a:latin typeface="Arial" pitchFamily="34" charset="0"/>
                <a:ea typeface="Arial" pitchFamily="34" charset="-122"/>
                <a:cs typeface="Arial" pitchFamily="34" charset="-120"/>
              </a:rPr>
              <a:t>x</a:t>
            </a:r>
            <a:r>
              <a:rPr lang="en-US" sz="2800" b="1" kern="0" spc="-100" dirty="0">
                <a:solidFill>
                  <a:srgbClr val="C8462A"/>
                </a:solidFill>
                <a:latin typeface="Arial" pitchFamily="34" charset="0"/>
                <a:ea typeface="Arial" pitchFamily="34" charset="-122"/>
                <a:cs typeface="Arial" pitchFamily="34" charset="-120"/>
              </a:rPr>
              <a:t>.</a:t>
            </a:r>
            <a:endParaRPr lang="en-US" sz="2800" dirty="0"/>
          </a:p>
        </p:txBody>
      </p:sp>
      <p:sp>
        <p:nvSpPr>
          <p:cNvPr id="20" name="Text 16"/>
          <p:cNvSpPr/>
          <p:nvPr/>
        </p:nvSpPr>
        <p:spPr>
          <a:xfrm>
            <a:off x="5499100" y="3743821"/>
            <a:ext cx="1193800" cy="452041"/>
          </a:xfrm>
          <a:prstGeom prst="rect">
            <a:avLst/>
          </a:prstGeom>
          <a:noFill/>
          <a:ln/>
        </p:spPr>
        <p:txBody>
          <a:bodyPr wrap="square" lIns="0" tIns="0" rIns="0" bIns="0" rtlCol="0" anchor="t">
            <a:normAutofit/>
          </a:bodyPr>
          <a:lstStyle/>
          <a:p>
            <a:pPr marL="0" indent="0" algn="ctr">
              <a:lnSpc>
                <a:spcPts val="1680"/>
              </a:lnSpc>
              <a:buNone/>
            </a:pPr>
            <a:r>
              <a:rPr lang="en-US" b="1" dirty="0">
                <a:solidFill>
                  <a:srgbClr val="292920"/>
                </a:solidFill>
                <a:latin typeface="Arial" pitchFamily="34" charset="0"/>
                <a:ea typeface="Arial" pitchFamily="34" charset="-122"/>
                <a:cs typeface="Arial" pitchFamily="34" charset="-120"/>
              </a:rPr>
              <a:t>Money moments</a:t>
            </a:r>
            <a:endParaRPr lang="en-US" dirty="0"/>
          </a:p>
        </p:txBody>
      </p:sp>
      <p:sp>
        <p:nvSpPr>
          <p:cNvPr id="21"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Brix shows up at each moment, with one next step</a:t>
            </a:r>
            <a:endParaRPr lang="en-US" sz="3600" dirty="0"/>
          </a:p>
        </p:txBody>
      </p:sp>
      <p:sp>
        <p:nvSpPr>
          <p:cNvPr id="3" name="Shape 1"/>
          <p:cNvSpPr/>
          <p:nvPr/>
        </p:nvSpPr>
        <p:spPr>
          <a:xfrm>
            <a:off x="815975" y="2075656"/>
            <a:ext cx="2520950" cy="3763169"/>
          </a:xfrm>
          <a:prstGeom prst="roundRect">
            <a:avLst>
              <a:gd name="adj" fmla="val 4912"/>
            </a:avLst>
          </a:prstGeom>
          <a:solidFill>
            <a:srgbClr val="FFFEFA"/>
          </a:solidFill>
          <a:ln w="6350">
            <a:solidFill>
              <a:srgbClr val="E7E4DB"/>
            </a:solidFill>
            <a:prstDash val="solid"/>
          </a:ln>
        </p:spPr>
      </p:sp>
      <p:sp>
        <p:nvSpPr>
          <p:cNvPr id="4" name="Shape 2"/>
          <p:cNvSpPr/>
          <p:nvPr/>
        </p:nvSpPr>
        <p:spPr>
          <a:xfrm>
            <a:off x="8191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a:solidFill>
            <a:srgbClr val="F5E6DD"/>
          </a:solidFill>
          <a:ln/>
        </p:spPr>
      </p:sp>
      <p:pic>
        <p:nvPicPr>
          <p:cNvPr id="5" name="Image 0" descr="A calendar with a charge date circled and a ringing alert bell"/>
          <p:cNvPicPr>
            <a:picLocks noChangeAspect="1"/>
          </p:cNvPicPr>
          <p:nvPr/>
        </p:nvPicPr>
        <p:blipFill>
          <a:blip r:embed="rId3"/>
          <a:srcRect/>
          <a:stretch/>
        </p:blipFill>
        <p:spPr>
          <a:xfrm>
            <a:off x="8191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p:spPr>
      </p:pic>
      <p:sp>
        <p:nvSpPr>
          <p:cNvPr id="6" name="Text 3"/>
          <p:cNvSpPr/>
          <p:nvPr/>
        </p:nvSpPr>
        <p:spPr>
          <a:xfrm>
            <a:off x="996950" y="3831431"/>
            <a:ext cx="2223770" cy="23872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B13C22"/>
                </a:solidFill>
                <a:latin typeface="Arial" pitchFamily="34" charset="0"/>
                <a:ea typeface="Arial" pitchFamily="34" charset="-122"/>
                <a:cs typeface="Arial" pitchFamily="34" charset="-120"/>
              </a:rPr>
              <a:t>BEFORE A CHARGE</a:t>
            </a:r>
            <a:endParaRPr lang="en-US" sz="1600" dirty="0"/>
          </a:p>
        </p:txBody>
      </p:sp>
      <p:sp>
        <p:nvSpPr>
          <p:cNvPr id="7" name="Text 4"/>
          <p:cNvSpPr/>
          <p:nvPr/>
        </p:nvSpPr>
        <p:spPr>
          <a:xfrm>
            <a:off x="996950" y="4108252"/>
            <a:ext cx="222377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92920"/>
                </a:solidFill>
                <a:latin typeface="Arial" pitchFamily="34" charset="0"/>
                <a:ea typeface="Arial" pitchFamily="34" charset="-122"/>
                <a:cs typeface="Arial" pitchFamily="34" charset="-120"/>
              </a:rPr>
              <a:t>Trials, caught</a:t>
            </a:r>
            <a:endParaRPr lang="en-US" sz="1700" dirty="0"/>
          </a:p>
        </p:txBody>
      </p:sp>
      <p:sp>
        <p:nvSpPr>
          <p:cNvPr id="8" name="Text 5"/>
          <p:cNvSpPr/>
          <p:nvPr/>
        </p:nvSpPr>
        <p:spPr>
          <a:xfrm>
            <a:off x="996950" y="4577627"/>
            <a:ext cx="2223770" cy="665361"/>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4A493F"/>
                </a:solidFill>
                <a:latin typeface="Arial" pitchFamily="34" charset="0"/>
                <a:ea typeface="Arial" pitchFamily="34" charset="-122"/>
                <a:cs typeface="Arial" pitchFamily="34" charset="-120"/>
              </a:rPr>
              <a:t>Predicts the next charge and reminds you 7 and 2 days before it bills.</a:t>
            </a:r>
            <a:endParaRPr lang="en-US" sz="1600" dirty="0"/>
          </a:p>
        </p:txBody>
      </p:sp>
      <p:sp>
        <p:nvSpPr>
          <p:cNvPr id="9" name="Shape 6"/>
          <p:cNvSpPr/>
          <p:nvPr/>
        </p:nvSpPr>
        <p:spPr>
          <a:xfrm>
            <a:off x="3495675" y="2075656"/>
            <a:ext cx="2520950" cy="3763169"/>
          </a:xfrm>
          <a:prstGeom prst="roundRect">
            <a:avLst>
              <a:gd name="adj" fmla="val 4912"/>
            </a:avLst>
          </a:prstGeom>
          <a:solidFill>
            <a:srgbClr val="FFFEFA"/>
          </a:solidFill>
          <a:ln w="6350">
            <a:solidFill>
              <a:srgbClr val="E7E4DB"/>
            </a:solidFill>
            <a:prstDash val="solid"/>
          </a:ln>
        </p:spPr>
      </p:sp>
      <p:sp>
        <p:nvSpPr>
          <p:cNvPr id="10" name="Shape 7"/>
          <p:cNvSpPr/>
          <p:nvPr/>
        </p:nvSpPr>
        <p:spPr>
          <a:xfrm>
            <a:off x="34988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a:solidFill>
            <a:srgbClr val="EFEBE3"/>
          </a:solidFill>
          <a:ln/>
        </p:spPr>
      </p:sp>
      <p:pic>
        <p:nvPicPr>
          <p:cNvPr id="11" name="Image 1" descr="Money moving from a school building to a wallet"/>
          <p:cNvPicPr>
            <a:picLocks noChangeAspect="1"/>
          </p:cNvPicPr>
          <p:nvPr/>
        </p:nvPicPr>
        <p:blipFill>
          <a:blip r:embed="rId4"/>
          <a:srcRect/>
          <a:stretch/>
        </p:blipFill>
        <p:spPr>
          <a:xfrm>
            <a:off x="34988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p:spPr>
      </p:pic>
      <p:sp>
        <p:nvSpPr>
          <p:cNvPr id="12" name="Text 8"/>
          <p:cNvSpPr/>
          <p:nvPr/>
        </p:nvSpPr>
        <p:spPr>
          <a:xfrm>
            <a:off x="3676650" y="3831431"/>
            <a:ext cx="2223770" cy="238720"/>
          </a:xfrm>
          <a:prstGeom prst="rect">
            <a:avLst/>
          </a:prstGeom>
          <a:noFill/>
          <a:ln/>
        </p:spPr>
        <p:txBody>
          <a:bodyPr wrap="square" lIns="0" tIns="0" rIns="0" bIns="0" rtlCol="0" anchor="t">
            <a:noAutofit/>
          </a:bodyPr>
          <a:lstStyle/>
          <a:p>
            <a:pPr marL="0" indent="0" algn="l">
              <a:lnSpc>
                <a:spcPts val="1680"/>
              </a:lnSpc>
              <a:buNone/>
            </a:pPr>
            <a:r>
              <a:rPr lang="en-US" sz="1600" b="1" dirty="0">
                <a:solidFill>
                  <a:srgbClr val="B13C22"/>
                </a:solidFill>
                <a:latin typeface="Arial" pitchFamily="34" charset="0"/>
                <a:ea typeface="Arial" pitchFamily="34" charset="-122"/>
                <a:cs typeface="Arial" pitchFamily="34" charset="-120"/>
              </a:rPr>
              <a:t>WHEN A REFUND LANDS</a:t>
            </a:r>
            <a:endParaRPr lang="en-US" sz="1600" dirty="0"/>
          </a:p>
        </p:txBody>
      </p:sp>
      <p:sp>
        <p:nvSpPr>
          <p:cNvPr id="13" name="Text 9"/>
          <p:cNvSpPr/>
          <p:nvPr/>
        </p:nvSpPr>
        <p:spPr>
          <a:xfrm>
            <a:off x="3676650" y="4283174"/>
            <a:ext cx="222377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92920"/>
                </a:solidFill>
                <a:latin typeface="Arial" pitchFamily="34" charset="0"/>
                <a:ea typeface="Arial" pitchFamily="34" charset="-122"/>
                <a:cs typeface="Arial" pitchFamily="34" charset="-120"/>
              </a:rPr>
              <a:t>Loans, spotted</a:t>
            </a:r>
            <a:endParaRPr lang="en-US" sz="1700" dirty="0"/>
          </a:p>
        </p:txBody>
      </p:sp>
      <p:sp>
        <p:nvSpPr>
          <p:cNvPr id="14" name="Text 10"/>
          <p:cNvSpPr/>
          <p:nvPr/>
        </p:nvSpPr>
        <p:spPr>
          <a:xfrm>
            <a:off x="3676650" y="4550966"/>
            <a:ext cx="2223770" cy="913606"/>
          </a:xfrm>
          <a:prstGeom prst="rect">
            <a:avLst/>
          </a:prstGeom>
          <a:noFill/>
          <a:ln/>
        </p:spPr>
        <p:txBody>
          <a:bodyPr wrap="square" lIns="0" tIns="0" rIns="0" bIns="0" rtlCol="0" anchor="t">
            <a:noAutofit/>
          </a:bodyPr>
          <a:lstStyle/>
          <a:p>
            <a:pPr marL="0" indent="0" algn="l">
              <a:lnSpc>
                <a:spcPts val="1680"/>
              </a:lnSpc>
              <a:buNone/>
            </a:pPr>
            <a:r>
              <a:rPr lang="en-US" sz="1600" dirty="0">
                <a:solidFill>
                  <a:srgbClr val="4A493F"/>
                </a:solidFill>
                <a:latin typeface="Arial" pitchFamily="34" charset="0"/>
                <a:ea typeface="Arial" pitchFamily="34" charset="-122"/>
                <a:cs typeface="Arial" pitchFamily="34" charset="-120"/>
              </a:rPr>
              <a:t>Shows the borrowed part and the 120-day window to return it with no interest.</a:t>
            </a:r>
            <a:endParaRPr lang="en-US" sz="1600" dirty="0"/>
          </a:p>
        </p:txBody>
      </p:sp>
      <p:sp>
        <p:nvSpPr>
          <p:cNvPr id="15" name="Shape 11"/>
          <p:cNvSpPr/>
          <p:nvPr/>
        </p:nvSpPr>
        <p:spPr>
          <a:xfrm>
            <a:off x="6175375" y="2075656"/>
            <a:ext cx="2520950" cy="3763169"/>
          </a:xfrm>
          <a:prstGeom prst="roundRect">
            <a:avLst>
              <a:gd name="adj" fmla="val 4912"/>
            </a:avLst>
          </a:prstGeom>
          <a:solidFill>
            <a:srgbClr val="FFFEFA"/>
          </a:solidFill>
          <a:ln w="6350">
            <a:solidFill>
              <a:srgbClr val="E7E4DB"/>
            </a:solidFill>
            <a:prstDash val="solid"/>
          </a:ln>
        </p:spPr>
      </p:sp>
      <p:sp>
        <p:nvSpPr>
          <p:cNvPr id="16" name="Shape 12"/>
          <p:cNvSpPr/>
          <p:nvPr/>
        </p:nvSpPr>
        <p:spPr>
          <a:xfrm>
            <a:off x="61785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a:solidFill>
            <a:srgbClr val="F5E6DD"/>
          </a:solidFill>
          <a:ln/>
        </p:spPr>
      </p:sp>
      <p:pic>
        <p:nvPicPr>
          <p:cNvPr id="17" name="Image 2" descr="A dark Brix card wrapped with a gift ribbon"/>
          <p:cNvPicPr>
            <a:picLocks noChangeAspect="1"/>
          </p:cNvPicPr>
          <p:nvPr/>
        </p:nvPicPr>
        <p:blipFill>
          <a:blip r:embed="rId5"/>
          <a:srcRect/>
          <a:stretch/>
        </p:blipFill>
        <p:spPr>
          <a:xfrm>
            <a:off x="61785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p:spPr>
      </p:pic>
      <p:sp>
        <p:nvSpPr>
          <p:cNvPr id="18" name="Text 13"/>
          <p:cNvSpPr/>
          <p:nvPr/>
        </p:nvSpPr>
        <p:spPr>
          <a:xfrm rot="21240000">
            <a:off x="6700438" y="2430417"/>
            <a:ext cx="1066800" cy="33020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7F5EF"/>
                </a:solidFill>
                <a:latin typeface="Arial" pitchFamily="34" charset="0"/>
                <a:ea typeface="Arial" pitchFamily="34" charset="-122"/>
                <a:cs typeface="Arial" pitchFamily="34" charset="-120"/>
              </a:rPr>
              <a:t>brix</a:t>
            </a:r>
            <a:r>
              <a:rPr lang="en-US" sz="1700" b="1" dirty="0">
                <a:solidFill>
                  <a:srgbClr val="F08A62"/>
                </a:solidFill>
                <a:latin typeface="Arial" pitchFamily="34" charset="0"/>
                <a:ea typeface="Arial" pitchFamily="34" charset="-122"/>
                <a:cs typeface="Arial" pitchFamily="34" charset="-120"/>
              </a:rPr>
              <a:t>.</a:t>
            </a:r>
            <a:endParaRPr lang="en-US" sz="1700" dirty="0"/>
          </a:p>
        </p:txBody>
      </p:sp>
      <p:sp>
        <p:nvSpPr>
          <p:cNvPr id="19" name="Text 14"/>
          <p:cNvSpPr/>
          <p:nvPr/>
        </p:nvSpPr>
        <p:spPr>
          <a:xfrm>
            <a:off x="6356350" y="3831431"/>
            <a:ext cx="2223770" cy="23872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B13C22"/>
                </a:solidFill>
                <a:latin typeface="Arial" pitchFamily="34" charset="0"/>
                <a:ea typeface="Arial" pitchFamily="34" charset="-122"/>
                <a:cs typeface="Arial" pitchFamily="34" charset="-120"/>
              </a:rPr>
              <a:t>BEFORE IT EXPIRES</a:t>
            </a:r>
            <a:endParaRPr lang="en-US" sz="1600" dirty="0"/>
          </a:p>
        </p:txBody>
      </p:sp>
      <p:sp>
        <p:nvSpPr>
          <p:cNvPr id="20" name="Text 15"/>
          <p:cNvSpPr/>
          <p:nvPr/>
        </p:nvSpPr>
        <p:spPr>
          <a:xfrm>
            <a:off x="6356350" y="4242601"/>
            <a:ext cx="222377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92920"/>
                </a:solidFill>
                <a:latin typeface="Arial" pitchFamily="34" charset="0"/>
                <a:ea typeface="Arial" pitchFamily="34" charset="-122"/>
                <a:cs typeface="Arial" pitchFamily="34" charset="-120"/>
              </a:rPr>
              <a:t>Gift cards, spent</a:t>
            </a:r>
            <a:endParaRPr lang="en-US" sz="1700" dirty="0"/>
          </a:p>
        </p:txBody>
      </p:sp>
      <p:sp>
        <p:nvSpPr>
          <p:cNvPr id="21" name="Text 16"/>
          <p:cNvSpPr/>
          <p:nvPr/>
        </p:nvSpPr>
        <p:spPr>
          <a:xfrm>
            <a:off x="6356350" y="4642056"/>
            <a:ext cx="2223770" cy="665361"/>
          </a:xfrm>
          <a:prstGeom prst="rect">
            <a:avLst/>
          </a:prstGeom>
          <a:noFill/>
          <a:ln/>
        </p:spPr>
        <p:txBody>
          <a:bodyPr wrap="square" lIns="0" tIns="0" rIns="0" bIns="0" rtlCol="0" anchor="t">
            <a:noAutofit/>
          </a:bodyPr>
          <a:lstStyle/>
          <a:p>
            <a:pPr marL="0" indent="0" algn="l">
              <a:lnSpc>
                <a:spcPts val="1680"/>
              </a:lnSpc>
              <a:buNone/>
            </a:pPr>
            <a:r>
              <a:rPr lang="en-US" dirty="0">
                <a:solidFill>
                  <a:srgbClr val="4A493F"/>
                </a:solidFill>
                <a:latin typeface="Arial" pitchFamily="34" charset="0"/>
                <a:ea typeface="Arial" pitchFamily="34" charset="-122"/>
                <a:cs typeface="Arial" pitchFamily="34" charset="-120"/>
              </a:rPr>
              <a:t>Tracks balances and alerts you 14 and 3 days before a card expires.</a:t>
            </a:r>
            <a:endParaRPr lang="en-US" dirty="0"/>
          </a:p>
        </p:txBody>
      </p:sp>
      <p:sp>
        <p:nvSpPr>
          <p:cNvPr id="22" name="Shape 17"/>
          <p:cNvSpPr/>
          <p:nvPr/>
        </p:nvSpPr>
        <p:spPr>
          <a:xfrm>
            <a:off x="8855075" y="2075656"/>
            <a:ext cx="2520950" cy="3763169"/>
          </a:xfrm>
          <a:prstGeom prst="roundRect">
            <a:avLst>
              <a:gd name="adj" fmla="val 4912"/>
            </a:avLst>
          </a:prstGeom>
          <a:solidFill>
            <a:srgbClr val="FFFEFA"/>
          </a:solidFill>
          <a:ln w="6350">
            <a:solidFill>
              <a:srgbClr val="E7E4DB"/>
            </a:solidFill>
            <a:prstDash val="solid"/>
          </a:ln>
        </p:spPr>
      </p:sp>
      <p:sp>
        <p:nvSpPr>
          <p:cNvPr id="23" name="Shape 18"/>
          <p:cNvSpPr/>
          <p:nvPr/>
        </p:nvSpPr>
        <p:spPr>
          <a:xfrm>
            <a:off x="88582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a:solidFill>
            <a:srgbClr val="EFEBE3"/>
          </a:solidFill>
          <a:ln/>
        </p:spPr>
      </p:sp>
      <p:pic>
        <p:nvPicPr>
          <p:cNvPr id="24" name="Image 3" descr="A rising shaded line chart with a coin, for practice investing"/>
          <p:cNvPicPr>
            <a:picLocks noChangeAspect="1"/>
          </p:cNvPicPr>
          <p:nvPr/>
        </p:nvPicPr>
        <p:blipFill>
          <a:blip r:embed="rId6"/>
          <a:srcRect/>
          <a:stretch/>
        </p:blipFill>
        <p:spPr>
          <a:xfrm>
            <a:off x="8858250" y="2078831"/>
            <a:ext cx="2514600" cy="1587500"/>
          </a:xfrm>
          <a:custGeom>
            <a:avLst/>
            <a:gdLst/>
            <a:ahLst/>
            <a:cxnLst/>
            <a:rect l="l" t="t" r="r" b="b"/>
            <a:pathLst>
              <a:path w="2514600" h="1587500">
                <a:moveTo>
                  <a:pt x="0" y="120650"/>
                </a:moveTo>
                <a:arcTo wR="120650" hR="120650" stAng="10800000" swAng="5400000"/>
                <a:lnTo>
                  <a:pt x="2393950" y="0"/>
                </a:lnTo>
                <a:arcTo wR="120650" hR="120650" stAng="16200000" swAng="5400000"/>
                <a:lnTo>
                  <a:pt x="2514600" y="1587500"/>
                </a:lnTo>
                <a:lnTo>
                  <a:pt x="0" y="1587500"/>
                </a:lnTo>
                <a:close/>
              </a:path>
            </a:pathLst>
          </a:custGeom>
        </p:spPr>
      </p:pic>
      <p:sp>
        <p:nvSpPr>
          <p:cNvPr id="25" name="Text 19"/>
          <p:cNvSpPr/>
          <p:nvPr/>
        </p:nvSpPr>
        <p:spPr>
          <a:xfrm>
            <a:off x="9036050" y="3831431"/>
            <a:ext cx="2223770" cy="23872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B13C22"/>
                </a:solidFill>
                <a:latin typeface="Arial" pitchFamily="34" charset="0"/>
                <a:ea typeface="Arial" pitchFamily="34" charset="-122"/>
                <a:cs typeface="Arial" pitchFamily="34" charset="-120"/>
              </a:rPr>
              <a:t>BEFORE REAL RISK</a:t>
            </a:r>
            <a:endParaRPr lang="en-US" sz="1600" dirty="0"/>
          </a:p>
        </p:txBody>
      </p:sp>
      <p:sp>
        <p:nvSpPr>
          <p:cNvPr id="26" name="Text 20"/>
          <p:cNvSpPr/>
          <p:nvPr/>
        </p:nvSpPr>
        <p:spPr>
          <a:xfrm>
            <a:off x="9036050" y="4108252"/>
            <a:ext cx="2223770" cy="521891"/>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92920"/>
                </a:solidFill>
                <a:latin typeface="Arial" pitchFamily="34" charset="0"/>
                <a:ea typeface="Arial" pitchFamily="34" charset="-122"/>
                <a:cs typeface="Arial" pitchFamily="34" charset="-120"/>
              </a:rPr>
              <a:t>Investing, practiced</a:t>
            </a:r>
            <a:endParaRPr lang="en-US" sz="1700" dirty="0"/>
          </a:p>
        </p:txBody>
      </p:sp>
      <p:sp>
        <p:nvSpPr>
          <p:cNvPr id="27" name="Text 21"/>
          <p:cNvSpPr/>
          <p:nvPr/>
        </p:nvSpPr>
        <p:spPr>
          <a:xfrm>
            <a:off x="9036050" y="4642056"/>
            <a:ext cx="2223770" cy="665361"/>
          </a:xfrm>
          <a:prstGeom prst="rect">
            <a:avLst/>
          </a:prstGeom>
          <a:noFill/>
          <a:ln/>
        </p:spPr>
        <p:txBody>
          <a:bodyPr wrap="square" lIns="0" tIns="0" rIns="0" bIns="0" rtlCol="0" anchor="t">
            <a:noAutofit/>
          </a:bodyPr>
          <a:lstStyle/>
          <a:p>
            <a:pPr marL="0" indent="0" algn="l">
              <a:lnSpc>
                <a:spcPts val="1680"/>
              </a:lnSpc>
              <a:buNone/>
            </a:pPr>
            <a:r>
              <a:rPr lang="en-US" dirty="0">
                <a:solidFill>
                  <a:srgbClr val="4A493F"/>
                </a:solidFill>
                <a:latin typeface="Arial" pitchFamily="34" charset="0"/>
                <a:ea typeface="Arial" pitchFamily="34" charset="-122"/>
                <a:cs typeface="Arial" pitchFamily="34" charset="-120"/>
              </a:rPr>
              <a:t>Virtual money at live prices, auto-invest, and the S&amp;P 500 to beat.</a:t>
            </a:r>
            <a:endParaRPr lang="en-US" dirty="0"/>
          </a:p>
        </p:txBody>
      </p:sp>
      <p:sp>
        <p:nvSpPr>
          <p:cNvPr id="28"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Product demo</a:t>
            </a:r>
            <a:endParaRPr lang="en-US" sz="3600" dirty="0"/>
          </a:p>
        </p:txBody>
      </p:sp>
      <p:sp>
        <p:nvSpPr>
          <p:cNvPr id="3" name="Text 1"/>
          <p:cNvSpPr/>
          <p:nvPr/>
        </p:nvSpPr>
        <p:spPr>
          <a:xfrm>
            <a:off x="812800" y="1391841"/>
            <a:ext cx="10883392" cy="391120"/>
          </a:xfrm>
          <a:prstGeom prst="rect">
            <a:avLst/>
          </a:prstGeom>
          <a:noFill/>
          <a:ln/>
        </p:spPr>
        <p:txBody>
          <a:bodyPr wrap="square" lIns="0" tIns="0" rIns="0" bIns="0" rtlCol="0" anchor="t">
            <a:normAutofit/>
          </a:bodyPr>
          <a:lstStyle/>
          <a:p>
            <a:pPr marL="0" indent="0" algn="l">
              <a:lnSpc>
                <a:spcPts val="2880"/>
              </a:lnSpc>
              <a:buNone/>
            </a:pPr>
            <a:r>
              <a:rPr lang="en-US" sz="2400" i="1" dirty="0">
                <a:solidFill>
                  <a:srgbClr val="4A493F"/>
                </a:solidFill>
                <a:latin typeface="Georgia" pitchFamily="18" charset="0"/>
                <a:ea typeface="Georgia" pitchFamily="18" charset="-122"/>
                <a:cs typeface="Georgia" pitchFamily="18" charset="-120"/>
              </a:rPr>
              <a:t>See it in action:</a:t>
            </a:r>
            <a:endParaRPr lang="en-US" sz="2400" dirty="0"/>
          </a:p>
        </p:txBody>
      </p:sp>
      <p:sp>
        <p:nvSpPr>
          <p:cNvPr id="4" name="Shape 2"/>
          <p:cNvSpPr/>
          <p:nvPr/>
        </p:nvSpPr>
        <p:spPr>
          <a:xfrm>
            <a:off x="801496" y="2040136"/>
            <a:ext cx="3418384" cy="3798689"/>
          </a:xfrm>
          <a:prstGeom prst="roundRect">
            <a:avLst>
              <a:gd name="adj" fmla="val 3622"/>
            </a:avLst>
          </a:prstGeom>
          <a:ln/>
        </p:spPr>
        <p:style>
          <a:lnRef idx="2">
            <a:schemeClr val="dk1"/>
          </a:lnRef>
          <a:fillRef idx="1">
            <a:schemeClr val="lt1"/>
          </a:fillRef>
          <a:effectRef idx="0">
            <a:schemeClr val="dk1"/>
          </a:effectRef>
          <a:fontRef idx="minor">
            <a:schemeClr val="dk1"/>
          </a:fontRef>
        </p:style>
      </p:sp>
      <p:sp>
        <p:nvSpPr>
          <p:cNvPr id="5" name="Text 3"/>
          <p:cNvSpPr/>
          <p:nvPr/>
        </p:nvSpPr>
        <p:spPr>
          <a:xfrm>
            <a:off x="1073150" y="2297311"/>
            <a:ext cx="2991155" cy="1041400"/>
          </a:xfrm>
          <a:prstGeom prst="rect">
            <a:avLst/>
          </a:prstGeom>
          <a:noFill/>
          <a:ln/>
        </p:spPr>
        <p:txBody>
          <a:bodyPr wrap="square" lIns="0" tIns="0" rIns="0" bIns="0" rtlCol="0" anchor="t">
            <a:normAutofit/>
          </a:bodyPr>
          <a:lstStyle/>
          <a:p>
            <a:pPr marL="0" indent="0" algn="l">
              <a:lnSpc>
                <a:spcPts val="8000"/>
              </a:lnSpc>
              <a:buNone/>
            </a:pPr>
            <a:r>
              <a:rPr lang="en-US" sz="8000" b="1" kern="0" spc="-200" dirty="0">
                <a:solidFill>
                  <a:srgbClr val="C8462A"/>
                </a:solidFill>
                <a:latin typeface="Arial" pitchFamily="34" charset="0"/>
                <a:ea typeface="Arial" pitchFamily="34" charset="-122"/>
                <a:cs typeface="Arial" pitchFamily="34" charset="-120"/>
              </a:rPr>
              <a:t>1</a:t>
            </a:r>
            <a:endParaRPr lang="en-US" sz="8000" dirty="0"/>
          </a:p>
        </p:txBody>
      </p:sp>
      <p:sp>
        <p:nvSpPr>
          <p:cNvPr id="6" name="Text 4"/>
          <p:cNvSpPr/>
          <p:nvPr/>
        </p:nvSpPr>
        <p:spPr>
          <a:xfrm>
            <a:off x="1073150" y="3440311"/>
            <a:ext cx="2991155" cy="317500"/>
          </a:xfrm>
          <a:prstGeom prst="rect">
            <a:avLst/>
          </a:prstGeom>
          <a:noFill/>
          <a:ln/>
        </p:spPr>
        <p:txBody>
          <a:bodyPr wrap="square" lIns="0" tIns="0" rIns="0" bIns="0" rtlCol="0" anchor="t">
            <a:normAutofit/>
          </a:bodyPr>
          <a:lstStyle/>
          <a:p>
            <a:pPr marL="0" indent="0" algn="l">
              <a:lnSpc>
                <a:spcPts val="2300"/>
              </a:lnSpc>
              <a:buNone/>
            </a:pPr>
            <a:r>
              <a:rPr lang="en-US" sz="2000" b="1" dirty="0">
                <a:ln w="0"/>
                <a:solidFill>
                  <a:schemeClr val="accent1"/>
                </a:solidFill>
                <a:effectLst>
                  <a:outerShdw blurRad="38100" dist="25400" dir="5400000" algn="ctr" rotWithShape="0">
                    <a:srgbClr val="6E747A">
                      <a:alpha val="43000"/>
                    </a:srgbClr>
                  </a:outerShdw>
                </a:effectLst>
                <a:latin typeface="Arial" pitchFamily="34" charset="0"/>
                <a:ea typeface="Arial" pitchFamily="34" charset="-122"/>
                <a:cs typeface="Arial" pitchFamily="34" charset="-120"/>
              </a:rPr>
              <a:t>Connect</a:t>
            </a:r>
            <a:endParaRPr lang="en-US" sz="2000" b="1" dirty="0">
              <a:ln w="0"/>
              <a:solidFill>
                <a:schemeClr val="accent1"/>
              </a:solidFill>
              <a:effectLst>
                <a:outerShdw blurRad="38100" dist="25400" dir="5400000" algn="ctr" rotWithShape="0">
                  <a:srgbClr val="6E747A">
                    <a:alpha val="43000"/>
                  </a:srgbClr>
                </a:outerShdw>
              </a:effectLst>
            </a:endParaRPr>
          </a:p>
        </p:txBody>
      </p:sp>
      <p:sp>
        <p:nvSpPr>
          <p:cNvPr id="7" name="Text 5"/>
          <p:cNvSpPr/>
          <p:nvPr/>
        </p:nvSpPr>
        <p:spPr>
          <a:xfrm>
            <a:off x="1073150" y="3859410"/>
            <a:ext cx="2991155" cy="1081299"/>
          </a:xfrm>
          <a:prstGeom prst="rect">
            <a:avLst/>
          </a:prstGeom>
          <a:noFill/>
          <a:ln/>
        </p:spPr>
        <p:txBody>
          <a:bodyPr wrap="square" lIns="0" tIns="0" rIns="0" bIns="0" rtlCol="0" anchor="t">
            <a:noAutofit/>
          </a:bodyPr>
          <a:lstStyle/>
          <a:p>
            <a:pPr marL="0" indent="0" algn="l">
              <a:lnSpc>
                <a:spcPts val="1960"/>
              </a:lnSpc>
              <a:buNone/>
            </a:pPr>
            <a:r>
              <a:rPr lang="en-US" b="1" dirty="0">
                <a:ln w="0"/>
                <a:effectLst>
                  <a:outerShdw blurRad="38100" dist="19050" dir="2700000" algn="tl" rotWithShape="0">
                    <a:schemeClr val="dk1">
                      <a:alpha val="40000"/>
                    </a:schemeClr>
                  </a:outerShdw>
                </a:effectLst>
                <a:latin typeface="Arial" pitchFamily="34" charset="0"/>
                <a:ea typeface="Arial" pitchFamily="34" charset="-122"/>
                <a:cs typeface="Arial" pitchFamily="34" charset="-120"/>
              </a:rPr>
              <a:t>Link your accounts read-only, then talk to Brix on the web, WhatsApp or a phone call. It never moves money.</a:t>
            </a:r>
            <a:endParaRPr lang="en-US" b="1" dirty="0">
              <a:ln w="0"/>
              <a:effectLst>
                <a:outerShdw blurRad="38100" dist="19050" dir="2700000" algn="tl" rotWithShape="0">
                  <a:schemeClr val="dk1">
                    <a:alpha val="40000"/>
                  </a:schemeClr>
                </a:outerShdw>
              </a:effectLst>
            </a:endParaRPr>
          </a:p>
        </p:txBody>
      </p:sp>
      <p:sp>
        <p:nvSpPr>
          <p:cNvPr id="8" name="Shape 6"/>
          <p:cNvSpPr/>
          <p:nvPr/>
        </p:nvSpPr>
        <p:spPr>
          <a:xfrm>
            <a:off x="4389934" y="2036961"/>
            <a:ext cx="3412133" cy="3805039"/>
          </a:xfrm>
          <a:prstGeom prst="roundRect">
            <a:avLst>
              <a:gd name="adj" fmla="val 3722"/>
            </a:avLst>
          </a:prstGeom>
          <a:ln/>
        </p:spPr>
        <p:style>
          <a:lnRef idx="1">
            <a:schemeClr val="accent5"/>
          </a:lnRef>
          <a:fillRef idx="3">
            <a:schemeClr val="accent5"/>
          </a:fillRef>
          <a:effectRef idx="2">
            <a:schemeClr val="accent5"/>
          </a:effectRef>
          <a:fontRef idx="minor">
            <a:schemeClr val="lt1"/>
          </a:fontRef>
        </p:style>
      </p:sp>
      <p:sp>
        <p:nvSpPr>
          <p:cNvPr id="9" name="Text 7"/>
          <p:cNvSpPr/>
          <p:nvPr/>
        </p:nvSpPr>
        <p:spPr>
          <a:xfrm>
            <a:off x="4643934" y="2290961"/>
            <a:ext cx="2991257" cy="1041400"/>
          </a:xfrm>
          <a:prstGeom prst="rect">
            <a:avLst/>
          </a:prstGeom>
          <a:noFill/>
          <a:ln/>
        </p:spPr>
        <p:txBody>
          <a:bodyPr wrap="square" lIns="0" tIns="0" rIns="0" bIns="0" rtlCol="0" anchor="t">
            <a:normAutofit/>
          </a:bodyPr>
          <a:lstStyle/>
          <a:p>
            <a:pPr marL="0" indent="0" algn="l">
              <a:lnSpc>
                <a:spcPts val="8000"/>
              </a:lnSpc>
              <a:buNone/>
            </a:pPr>
            <a:r>
              <a:rPr lang="en-US" sz="8000" b="1" kern="0" spc="-200" dirty="0">
                <a:solidFill>
                  <a:srgbClr val="F08A62"/>
                </a:solidFill>
                <a:latin typeface="Arial" pitchFamily="34" charset="0"/>
                <a:ea typeface="Arial" pitchFamily="34" charset="-122"/>
                <a:cs typeface="Arial" pitchFamily="34" charset="-120"/>
              </a:rPr>
              <a:t>2</a:t>
            </a:r>
            <a:endParaRPr lang="en-US" sz="8000" dirty="0"/>
          </a:p>
        </p:txBody>
      </p:sp>
      <p:sp>
        <p:nvSpPr>
          <p:cNvPr id="10" name="Text 8"/>
          <p:cNvSpPr/>
          <p:nvPr/>
        </p:nvSpPr>
        <p:spPr>
          <a:xfrm>
            <a:off x="4643934" y="3433961"/>
            <a:ext cx="2991257"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7F5EF"/>
                </a:solidFill>
                <a:latin typeface="Arial" pitchFamily="34" charset="0"/>
                <a:ea typeface="Arial" pitchFamily="34" charset="-122"/>
                <a:cs typeface="Arial" pitchFamily="34" charset="-120"/>
              </a:rPr>
              <a:t>Catch the moment</a:t>
            </a:r>
            <a:endParaRPr lang="en-US" sz="2000" dirty="0"/>
          </a:p>
        </p:txBody>
      </p:sp>
      <p:sp>
        <p:nvSpPr>
          <p:cNvPr id="11" name="Text 9"/>
          <p:cNvSpPr/>
          <p:nvPr/>
        </p:nvSpPr>
        <p:spPr>
          <a:xfrm>
            <a:off x="4643934" y="3853061"/>
            <a:ext cx="2991257" cy="771922"/>
          </a:xfrm>
          <a:prstGeom prst="rect">
            <a:avLst/>
          </a:prstGeom>
          <a:noFill/>
          <a:ln/>
        </p:spPr>
        <p:txBody>
          <a:bodyPr wrap="square" lIns="0" tIns="0" rIns="0" bIns="0" rtlCol="0" anchor="t">
            <a:noAutofit/>
          </a:bodyPr>
          <a:lstStyle/>
          <a:p>
            <a:pPr marL="0" indent="0" algn="l">
              <a:lnSpc>
                <a:spcPts val="1960"/>
              </a:lnSpc>
              <a:buNone/>
            </a:pPr>
            <a:r>
              <a:rPr lang="en-US" b="1" dirty="0">
                <a:solidFill>
                  <a:srgbClr val="B9B8AA"/>
                </a:solidFill>
                <a:latin typeface="Arial" pitchFamily="34" charset="0"/>
                <a:ea typeface="Arial" pitchFamily="34" charset="-122"/>
                <a:cs typeface="Arial" pitchFamily="34" charset="-120"/>
              </a:rPr>
              <a:t>Brix finds the next trial charge, the borrowed part of an aid refund, or a gift card about to expire.</a:t>
            </a:r>
            <a:endParaRPr lang="en-US" b="1" dirty="0"/>
          </a:p>
        </p:txBody>
      </p:sp>
      <p:sp>
        <p:nvSpPr>
          <p:cNvPr id="12" name="Shape 10"/>
          <p:cNvSpPr/>
          <p:nvPr/>
        </p:nvSpPr>
        <p:spPr>
          <a:xfrm>
            <a:off x="7957641" y="2040136"/>
            <a:ext cx="3418384" cy="3798689"/>
          </a:xfrm>
          <a:prstGeom prst="roundRect">
            <a:avLst>
              <a:gd name="adj" fmla="val 3622"/>
            </a:avLst>
          </a:prstGeom>
          <a:solidFill>
            <a:srgbClr val="FFFEFA"/>
          </a:solidFill>
          <a:ln w="6350">
            <a:solidFill>
              <a:srgbClr val="E7E4DB"/>
            </a:solidFill>
            <a:prstDash val="solid"/>
          </a:ln>
        </p:spPr>
      </p:sp>
      <p:sp>
        <p:nvSpPr>
          <p:cNvPr id="13" name="Text 11"/>
          <p:cNvSpPr/>
          <p:nvPr/>
        </p:nvSpPr>
        <p:spPr>
          <a:xfrm>
            <a:off x="8214816" y="2297311"/>
            <a:ext cx="2991155" cy="1041400"/>
          </a:xfrm>
          <a:prstGeom prst="rect">
            <a:avLst/>
          </a:prstGeom>
          <a:noFill/>
          <a:ln/>
        </p:spPr>
        <p:txBody>
          <a:bodyPr wrap="square" lIns="0" tIns="0" rIns="0" bIns="0" rtlCol="0" anchor="t">
            <a:normAutofit/>
          </a:bodyPr>
          <a:lstStyle/>
          <a:p>
            <a:pPr marL="0" indent="0" algn="l">
              <a:lnSpc>
                <a:spcPts val="8000"/>
              </a:lnSpc>
              <a:buNone/>
            </a:pPr>
            <a:r>
              <a:rPr lang="en-US" sz="8000" b="1" kern="0" spc="-200" dirty="0">
                <a:solidFill>
                  <a:srgbClr val="C8462A"/>
                </a:solidFill>
                <a:latin typeface="Arial" pitchFamily="34" charset="0"/>
                <a:ea typeface="Arial" pitchFamily="34" charset="-122"/>
                <a:cs typeface="Arial" pitchFamily="34" charset="-120"/>
              </a:rPr>
              <a:t>3</a:t>
            </a:r>
            <a:endParaRPr lang="en-US" sz="8000" dirty="0"/>
          </a:p>
        </p:txBody>
      </p:sp>
      <p:sp>
        <p:nvSpPr>
          <p:cNvPr id="14" name="Text 12"/>
          <p:cNvSpPr/>
          <p:nvPr/>
        </p:nvSpPr>
        <p:spPr>
          <a:xfrm>
            <a:off x="8214816" y="3440311"/>
            <a:ext cx="2991155"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92920"/>
                </a:solidFill>
                <a:latin typeface="Arial" pitchFamily="34" charset="0"/>
                <a:ea typeface="Arial" pitchFamily="34" charset="-122"/>
                <a:cs typeface="Arial" pitchFamily="34" charset="-120"/>
              </a:rPr>
              <a:t>Act on one step</a:t>
            </a:r>
            <a:endParaRPr lang="en-US" sz="2000" dirty="0"/>
          </a:p>
        </p:txBody>
      </p:sp>
      <p:sp>
        <p:nvSpPr>
          <p:cNvPr id="15" name="Text 13"/>
          <p:cNvSpPr/>
          <p:nvPr/>
        </p:nvSpPr>
        <p:spPr>
          <a:xfrm>
            <a:off x="8214816" y="3859411"/>
            <a:ext cx="2991155" cy="771922"/>
          </a:xfrm>
          <a:prstGeom prst="rect">
            <a:avLst/>
          </a:prstGeom>
          <a:noFill/>
          <a:ln/>
        </p:spPr>
        <p:txBody>
          <a:bodyPr wrap="square" lIns="0" tIns="0" rIns="0" bIns="0" rtlCol="0" anchor="t">
            <a:normAutofit/>
          </a:bodyPr>
          <a:lstStyle/>
          <a:p>
            <a:pPr marL="0" indent="0" algn="l">
              <a:lnSpc>
                <a:spcPts val="1960"/>
              </a:lnSpc>
              <a:buNone/>
            </a:pPr>
            <a:r>
              <a:rPr lang="en-US" b="1" dirty="0">
                <a:solidFill>
                  <a:srgbClr val="4A493F"/>
                </a:solidFill>
                <a:latin typeface="Arial" pitchFamily="34" charset="0"/>
                <a:ea typeface="Arial" pitchFamily="34" charset="-122"/>
                <a:cs typeface="Arial" pitchFamily="34" charset="-120"/>
              </a:rPr>
              <a:t>You get one clear next step with its sources. Nothing happens until you say yes</a:t>
            </a:r>
            <a:r>
              <a:rPr lang="en-US" dirty="0">
                <a:solidFill>
                  <a:srgbClr val="4A493F"/>
                </a:solidFill>
                <a:latin typeface="Arial" pitchFamily="34" charset="0"/>
                <a:ea typeface="Arial" pitchFamily="34" charset="-122"/>
                <a:cs typeface="Arial" pitchFamily="34" charset="-120"/>
              </a:rPr>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pic>
        <p:nvPicPr>
          <p:cNvPr id="2" name="Image 0" descr="Verified"/>
          <p:cNvPicPr>
            <a:picLocks noChangeAspect="1"/>
          </p:cNvPicPr>
          <p:nvPr/>
        </p:nvPicPr>
        <p:blipFill>
          <a:blip r:embed="rId3"/>
          <a:srcRect/>
          <a:stretch/>
        </p:blipFill>
        <p:spPr>
          <a:xfrm>
            <a:off x="812800" y="861020"/>
            <a:ext cx="406400" cy="406400"/>
          </a:xfrm>
          <a:prstGeom prst="rect">
            <a:avLst/>
          </a:prstGeom>
        </p:spPr>
      </p:pic>
      <p:sp>
        <p:nvSpPr>
          <p:cNvPr id="3" name="Text 0"/>
          <p:cNvSpPr>
            <a:spLocks noGrp="1"/>
          </p:cNvSpPr>
          <p:nvPr>
            <p:ph type="title"/>
          </p:nvPr>
        </p:nvSpPr>
        <p:spPr>
          <a:xfrm>
            <a:off x="1371600" y="812800"/>
            <a:ext cx="1070074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Why Brix, not another budgeting app</a:t>
            </a:r>
            <a:endParaRPr lang="en-US" sz="3600" dirty="0"/>
          </a:p>
        </p:txBody>
      </p:sp>
      <p:sp>
        <p:nvSpPr>
          <p:cNvPr id="4" name="Shape 1"/>
          <p:cNvSpPr/>
          <p:nvPr/>
        </p:nvSpPr>
        <p:spPr>
          <a:xfrm>
            <a:off x="885952" y="1728390"/>
            <a:ext cx="10560050" cy="3480495"/>
          </a:xfrm>
          <a:prstGeom prst="roundRect">
            <a:avLst>
              <a:gd name="adj" fmla="val 2828"/>
            </a:avLst>
          </a:prstGeom>
          <a:solidFill>
            <a:srgbClr val="FFFEFA"/>
          </a:solidFill>
          <a:ln w="6350">
            <a:solidFill>
              <a:srgbClr val="E7E4DB"/>
            </a:solidFill>
            <a:prstDash val="solid"/>
          </a:ln>
        </p:spPr>
      </p:sp>
      <p:sp>
        <p:nvSpPr>
          <p:cNvPr id="5" name="Text 2"/>
          <p:cNvSpPr/>
          <p:nvPr/>
        </p:nvSpPr>
        <p:spPr>
          <a:xfrm>
            <a:off x="819150" y="1525191"/>
            <a:ext cx="3175000" cy="408880"/>
          </a:xfrm>
          <a:custGeom>
            <a:avLst/>
            <a:gdLst/>
            <a:ahLst/>
            <a:cxnLst/>
            <a:rect l="l" t="t" r="r" b="b"/>
            <a:pathLst>
              <a:path w="3175000" h="408880">
                <a:moveTo>
                  <a:pt x="0" y="95250"/>
                </a:moveTo>
                <a:arcTo wR="95250" hR="95250" stAng="10800000" swAng="5400000"/>
                <a:lnTo>
                  <a:pt x="3175000" y="0"/>
                </a:lnTo>
                <a:lnTo>
                  <a:pt x="3175000" y="408880"/>
                </a:lnTo>
                <a:lnTo>
                  <a:pt x="0" y="408880"/>
                </a:lnTo>
                <a:close/>
              </a:path>
            </a:pathLst>
          </a:custGeom>
          <a:solidFill>
            <a:srgbClr val="292920"/>
          </a:solidFill>
          <a:ln/>
        </p:spPr>
        <p:txBody>
          <a:bodyPr wrap="square" lIns="139700" tIns="88900" rIns="52832" bIns="63500" rtlCol="0" anchor="t">
            <a:normAutofit/>
          </a:bodyPr>
          <a:lstStyle/>
          <a:p>
            <a:pPr marL="0" indent="0" algn="l">
              <a:lnSpc>
                <a:spcPts val="1820"/>
              </a:lnSpc>
              <a:buNone/>
            </a:pPr>
            <a:r>
              <a:rPr lang="en-US" b="1" dirty="0">
                <a:solidFill>
                  <a:srgbClr val="F7F5EF"/>
                </a:solidFill>
                <a:latin typeface="Arial" pitchFamily="34" charset="0"/>
                <a:ea typeface="Arial" pitchFamily="34" charset="-122"/>
                <a:cs typeface="Arial" pitchFamily="34" charset="-120"/>
              </a:rPr>
              <a:t>What students need</a:t>
            </a:r>
            <a:endParaRPr lang="en-US" dirty="0"/>
          </a:p>
        </p:txBody>
      </p:sp>
      <p:sp>
        <p:nvSpPr>
          <p:cNvPr id="6" name="Text 3"/>
          <p:cNvSpPr/>
          <p:nvPr/>
        </p:nvSpPr>
        <p:spPr>
          <a:xfrm>
            <a:off x="3994150" y="1525191"/>
            <a:ext cx="2692400" cy="408880"/>
          </a:xfrm>
          <a:prstGeom prst="rect">
            <a:avLst/>
          </a:prstGeom>
          <a:solidFill>
            <a:srgbClr val="292920"/>
          </a:solidFill>
          <a:ln/>
        </p:spPr>
        <p:txBody>
          <a:bodyPr wrap="square" lIns="139700" tIns="88900" rIns="67310" bIns="63500" rtlCol="0" anchor="t">
            <a:normAutofit/>
          </a:bodyPr>
          <a:lstStyle/>
          <a:p>
            <a:pPr marL="0" indent="0" algn="l">
              <a:lnSpc>
                <a:spcPts val="1820"/>
              </a:lnSpc>
              <a:buNone/>
            </a:pPr>
            <a:r>
              <a:rPr lang="en-US" b="1" dirty="0">
                <a:solidFill>
                  <a:srgbClr val="F08A62"/>
                </a:solidFill>
                <a:latin typeface="Arial" pitchFamily="34" charset="0"/>
                <a:ea typeface="Arial" pitchFamily="34" charset="-122"/>
                <a:cs typeface="Arial" pitchFamily="34" charset="-120"/>
              </a:rPr>
              <a:t>Brix</a:t>
            </a:r>
            <a:endParaRPr lang="en-US" dirty="0"/>
          </a:p>
        </p:txBody>
      </p:sp>
      <p:sp>
        <p:nvSpPr>
          <p:cNvPr id="7" name="Text 4"/>
          <p:cNvSpPr/>
          <p:nvPr/>
        </p:nvSpPr>
        <p:spPr>
          <a:xfrm>
            <a:off x="6686550" y="1525191"/>
            <a:ext cx="2413000" cy="408880"/>
          </a:xfrm>
          <a:prstGeom prst="rect">
            <a:avLst/>
          </a:prstGeom>
          <a:solidFill>
            <a:srgbClr val="292920"/>
          </a:solidFill>
          <a:ln/>
        </p:spPr>
        <p:txBody>
          <a:bodyPr wrap="square" lIns="139700" tIns="88900" rIns="75692" bIns="63500" rtlCol="0" anchor="t">
            <a:normAutofit/>
          </a:bodyPr>
          <a:lstStyle/>
          <a:p>
            <a:pPr marL="0" indent="0" algn="l">
              <a:lnSpc>
                <a:spcPts val="1820"/>
              </a:lnSpc>
              <a:buNone/>
            </a:pPr>
            <a:r>
              <a:rPr lang="en-US" b="1" dirty="0">
                <a:solidFill>
                  <a:srgbClr val="F7F5EF"/>
                </a:solidFill>
                <a:latin typeface="Arial" pitchFamily="34" charset="0"/>
                <a:ea typeface="Arial" pitchFamily="34" charset="-122"/>
                <a:cs typeface="Arial" pitchFamily="34" charset="-120"/>
              </a:rPr>
              <a:t>Rocket Money</a:t>
            </a:r>
            <a:endParaRPr lang="en-US" dirty="0"/>
          </a:p>
        </p:txBody>
      </p:sp>
      <p:sp>
        <p:nvSpPr>
          <p:cNvPr id="8" name="Text 5"/>
          <p:cNvSpPr/>
          <p:nvPr/>
        </p:nvSpPr>
        <p:spPr>
          <a:xfrm>
            <a:off x="9099550" y="1525191"/>
            <a:ext cx="2286000" cy="408880"/>
          </a:xfrm>
          <a:prstGeom prst="rect">
            <a:avLst/>
          </a:prstGeom>
          <a:solidFill>
            <a:srgbClr val="292920"/>
          </a:solidFill>
          <a:ln/>
        </p:spPr>
        <p:txBody>
          <a:bodyPr wrap="square" lIns="139700" tIns="88900" rIns="79502" bIns="63500" rtlCol="0" anchor="t">
            <a:normAutofit/>
          </a:bodyPr>
          <a:lstStyle/>
          <a:p>
            <a:pPr marL="0" indent="0" algn="l">
              <a:lnSpc>
                <a:spcPts val="1820"/>
              </a:lnSpc>
              <a:buNone/>
            </a:pPr>
            <a:r>
              <a:rPr lang="en-US" b="1" dirty="0">
                <a:solidFill>
                  <a:srgbClr val="F7F5EF"/>
                </a:solidFill>
                <a:latin typeface="Arial" pitchFamily="34" charset="0"/>
                <a:ea typeface="Arial" pitchFamily="34" charset="-122"/>
                <a:cs typeface="Arial" pitchFamily="34" charset="-120"/>
              </a:rPr>
              <a:t>YNAB</a:t>
            </a:r>
            <a:endParaRPr lang="en-US" dirty="0"/>
          </a:p>
        </p:txBody>
      </p:sp>
      <p:sp>
        <p:nvSpPr>
          <p:cNvPr id="9" name="Shape 6"/>
          <p:cNvSpPr/>
          <p:nvPr/>
        </p:nvSpPr>
        <p:spPr>
          <a:xfrm>
            <a:off x="819150" y="2346127"/>
            <a:ext cx="3175000" cy="0"/>
          </a:xfrm>
          <a:prstGeom prst="line">
            <a:avLst/>
          </a:prstGeom>
          <a:noFill/>
          <a:ln w="6350">
            <a:solidFill>
              <a:srgbClr val="E7E4DB"/>
            </a:solidFill>
            <a:prstDash val="solid"/>
          </a:ln>
        </p:spPr>
      </p:sp>
      <p:sp>
        <p:nvSpPr>
          <p:cNvPr id="10" name="Text 7"/>
          <p:cNvSpPr/>
          <p:nvPr/>
        </p:nvSpPr>
        <p:spPr>
          <a:xfrm>
            <a:off x="958850" y="2022971"/>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Trial and subscription alerts</a:t>
            </a:r>
            <a:endParaRPr lang="en-US" sz="1600" dirty="0"/>
          </a:p>
        </p:txBody>
      </p:sp>
      <p:sp>
        <p:nvSpPr>
          <p:cNvPr id="11" name="Text 8"/>
          <p:cNvSpPr/>
          <p:nvPr/>
        </p:nvSpPr>
        <p:spPr>
          <a:xfrm>
            <a:off x="3994150" y="1934071"/>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 7 and 2 days before</a:t>
            </a:r>
            <a:endParaRPr lang="en-US" sz="1600" dirty="0"/>
          </a:p>
        </p:txBody>
      </p:sp>
      <p:sp>
        <p:nvSpPr>
          <p:cNvPr id="12" name="Shape 9"/>
          <p:cNvSpPr/>
          <p:nvPr/>
        </p:nvSpPr>
        <p:spPr>
          <a:xfrm>
            <a:off x="3994150" y="2346127"/>
            <a:ext cx="2692400" cy="0"/>
          </a:xfrm>
          <a:prstGeom prst="line">
            <a:avLst/>
          </a:prstGeom>
          <a:noFill/>
          <a:ln w="6350">
            <a:solidFill>
              <a:srgbClr val="CFE0CD"/>
            </a:solidFill>
            <a:prstDash val="solid"/>
          </a:ln>
        </p:spPr>
      </p:sp>
      <p:sp>
        <p:nvSpPr>
          <p:cNvPr id="13" name="Shape 10"/>
          <p:cNvSpPr/>
          <p:nvPr/>
        </p:nvSpPr>
        <p:spPr>
          <a:xfrm>
            <a:off x="6686550" y="2346127"/>
            <a:ext cx="2413000" cy="0"/>
          </a:xfrm>
          <a:prstGeom prst="line">
            <a:avLst/>
          </a:prstGeom>
          <a:noFill/>
          <a:ln w="6350">
            <a:solidFill>
              <a:srgbClr val="E7E4DB"/>
            </a:solidFill>
            <a:prstDash val="solid"/>
          </a:ln>
        </p:spPr>
      </p:sp>
      <p:sp>
        <p:nvSpPr>
          <p:cNvPr id="14" name="Text 11"/>
          <p:cNvSpPr/>
          <p:nvPr/>
        </p:nvSpPr>
        <p:spPr>
          <a:xfrm>
            <a:off x="6826250" y="2022971"/>
            <a:ext cx="219760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Tracks subscriptions</a:t>
            </a:r>
            <a:endParaRPr lang="en-US" sz="1600" dirty="0"/>
          </a:p>
        </p:txBody>
      </p:sp>
      <p:sp>
        <p:nvSpPr>
          <p:cNvPr id="15" name="Shape 12"/>
          <p:cNvSpPr/>
          <p:nvPr/>
        </p:nvSpPr>
        <p:spPr>
          <a:xfrm>
            <a:off x="9099550" y="2346127"/>
            <a:ext cx="2286000" cy="0"/>
          </a:xfrm>
          <a:prstGeom prst="line">
            <a:avLst/>
          </a:prstGeom>
          <a:noFill/>
          <a:ln w="6350">
            <a:solidFill>
              <a:srgbClr val="E7E4DB"/>
            </a:solidFill>
            <a:prstDash val="solid"/>
          </a:ln>
        </p:spPr>
      </p:sp>
      <p:sp>
        <p:nvSpPr>
          <p:cNvPr id="16" name="Text 13"/>
          <p:cNvSpPr/>
          <p:nvPr/>
        </p:nvSpPr>
        <p:spPr>
          <a:xfrm>
            <a:off x="9239250" y="2022971"/>
            <a:ext cx="206679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Manual budgeting</a:t>
            </a:r>
            <a:endParaRPr lang="en-US" sz="1600" dirty="0"/>
          </a:p>
        </p:txBody>
      </p:sp>
      <p:sp>
        <p:nvSpPr>
          <p:cNvPr id="17" name="Shape 14"/>
          <p:cNvSpPr/>
          <p:nvPr/>
        </p:nvSpPr>
        <p:spPr>
          <a:xfrm>
            <a:off x="819150" y="2761357"/>
            <a:ext cx="3175000" cy="0"/>
          </a:xfrm>
          <a:prstGeom prst="line">
            <a:avLst/>
          </a:prstGeom>
          <a:noFill/>
          <a:ln w="6350">
            <a:solidFill>
              <a:srgbClr val="E7E4DB"/>
            </a:solidFill>
            <a:prstDash val="solid"/>
          </a:ln>
        </p:spPr>
      </p:sp>
      <p:sp>
        <p:nvSpPr>
          <p:cNvPr id="18" name="Text 15"/>
          <p:cNvSpPr/>
          <p:nvPr/>
        </p:nvSpPr>
        <p:spPr>
          <a:xfrm>
            <a:off x="958850" y="2438202"/>
            <a:ext cx="2982468" cy="256480"/>
          </a:xfrm>
          <a:prstGeom prst="rect">
            <a:avLst/>
          </a:prstGeom>
          <a:noFill/>
          <a:ln/>
        </p:spPr>
        <p:txBody>
          <a:bodyPr wrap="square" lIns="0" tIns="0" rIns="0" bIns="0" rtlCol="0" anchor="t">
            <a:no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Borrowed money in aid refunds</a:t>
            </a:r>
            <a:endParaRPr lang="en-US" sz="1600" dirty="0"/>
          </a:p>
        </p:txBody>
      </p:sp>
      <p:sp>
        <p:nvSpPr>
          <p:cNvPr id="19" name="Text 16"/>
          <p:cNvSpPr/>
          <p:nvPr/>
        </p:nvSpPr>
        <p:spPr>
          <a:xfrm>
            <a:off x="3994150" y="2349302"/>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 with return date</a:t>
            </a:r>
            <a:endParaRPr lang="en-US" sz="1600" dirty="0"/>
          </a:p>
        </p:txBody>
      </p:sp>
      <p:sp>
        <p:nvSpPr>
          <p:cNvPr id="20" name="Shape 17"/>
          <p:cNvSpPr/>
          <p:nvPr/>
        </p:nvSpPr>
        <p:spPr>
          <a:xfrm>
            <a:off x="3994150" y="2761357"/>
            <a:ext cx="2692400" cy="0"/>
          </a:xfrm>
          <a:prstGeom prst="line">
            <a:avLst/>
          </a:prstGeom>
          <a:noFill/>
          <a:ln w="6350">
            <a:solidFill>
              <a:srgbClr val="CFE0CD"/>
            </a:solidFill>
            <a:prstDash val="solid"/>
          </a:ln>
        </p:spPr>
      </p:sp>
      <p:sp>
        <p:nvSpPr>
          <p:cNvPr id="21" name="Text 18"/>
          <p:cNvSpPr/>
          <p:nvPr/>
        </p:nvSpPr>
        <p:spPr>
          <a:xfrm>
            <a:off x="6686550" y="2349302"/>
            <a:ext cx="2413000" cy="415230"/>
          </a:xfrm>
          <a:prstGeom prst="rect">
            <a:avLst/>
          </a:prstGeom>
          <a:solidFill>
            <a:srgbClr val="F8E1DC"/>
          </a:solidFill>
          <a:ln/>
        </p:spPr>
        <p:txBody>
          <a:bodyPr wrap="square" lIns="139700" tIns="88900" rIns="7569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22" name="Shape 19"/>
          <p:cNvSpPr/>
          <p:nvPr/>
        </p:nvSpPr>
        <p:spPr>
          <a:xfrm>
            <a:off x="6686550" y="2761357"/>
            <a:ext cx="2413000" cy="0"/>
          </a:xfrm>
          <a:prstGeom prst="line">
            <a:avLst/>
          </a:prstGeom>
          <a:noFill/>
          <a:ln w="6350">
            <a:solidFill>
              <a:srgbClr val="EFCFC7"/>
            </a:solidFill>
            <a:prstDash val="solid"/>
          </a:ln>
        </p:spPr>
      </p:sp>
      <p:sp>
        <p:nvSpPr>
          <p:cNvPr id="23" name="Text 20"/>
          <p:cNvSpPr/>
          <p:nvPr/>
        </p:nvSpPr>
        <p:spPr>
          <a:xfrm>
            <a:off x="9099550" y="2349302"/>
            <a:ext cx="2286000" cy="415230"/>
          </a:xfrm>
          <a:prstGeom prst="rect">
            <a:avLst/>
          </a:prstGeom>
          <a:solidFill>
            <a:srgbClr val="F8E1DC"/>
          </a:solidFill>
          <a:ln/>
        </p:spPr>
        <p:txBody>
          <a:bodyPr wrap="square" lIns="139700" tIns="88900" rIns="7950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24" name="Shape 21"/>
          <p:cNvSpPr/>
          <p:nvPr/>
        </p:nvSpPr>
        <p:spPr>
          <a:xfrm>
            <a:off x="9099550" y="2761357"/>
            <a:ext cx="2286000" cy="0"/>
          </a:xfrm>
          <a:prstGeom prst="line">
            <a:avLst/>
          </a:prstGeom>
          <a:noFill/>
          <a:ln w="6350">
            <a:solidFill>
              <a:srgbClr val="EFCFC7"/>
            </a:solidFill>
            <a:prstDash val="solid"/>
          </a:ln>
        </p:spPr>
      </p:sp>
      <p:sp>
        <p:nvSpPr>
          <p:cNvPr id="25" name="Shape 22"/>
          <p:cNvSpPr/>
          <p:nvPr/>
        </p:nvSpPr>
        <p:spPr>
          <a:xfrm>
            <a:off x="819150" y="3176588"/>
            <a:ext cx="3175000" cy="0"/>
          </a:xfrm>
          <a:prstGeom prst="line">
            <a:avLst/>
          </a:prstGeom>
          <a:noFill/>
          <a:ln w="6350">
            <a:solidFill>
              <a:srgbClr val="E7E4DB"/>
            </a:solidFill>
            <a:prstDash val="solid"/>
          </a:ln>
        </p:spPr>
      </p:sp>
      <p:sp>
        <p:nvSpPr>
          <p:cNvPr id="26" name="Text 23"/>
          <p:cNvSpPr/>
          <p:nvPr/>
        </p:nvSpPr>
        <p:spPr>
          <a:xfrm>
            <a:off x="958850" y="2853432"/>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Gift card balances and expiry</a:t>
            </a:r>
            <a:endParaRPr lang="en-US" sz="1600" dirty="0"/>
          </a:p>
        </p:txBody>
      </p:sp>
      <p:sp>
        <p:nvSpPr>
          <p:cNvPr id="27" name="Text 24"/>
          <p:cNvSpPr/>
          <p:nvPr/>
        </p:nvSpPr>
        <p:spPr>
          <a:xfrm>
            <a:off x="3994150" y="2764532"/>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 with alerts</a:t>
            </a:r>
            <a:endParaRPr lang="en-US" sz="1600" dirty="0"/>
          </a:p>
        </p:txBody>
      </p:sp>
      <p:sp>
        <p:nvSpPr>
          <p:cNvPr id="28" name="Shape 25"/>
          <p:cNvSpPr/>
          <p:nvPr/>
        </p:nvSpPr>
        <p:spPr>
          <a:xfrm>
            <a:off x="3994150" y="3176588"/>
            <a:ext cx="2692400" cy="0"/>
          </a:xfrm>
          <a:prstGeom prst="line">
            <a:avLst/>
          </a:prstGeom>
          <a:noFill/>
          <a:ln w="6350">
            <a:solidFill>
              <a:srgbClr val="CFE0CD"/>
            </a:solidFill>
            <a:prstDash val="solid"/>
          </a:ln>
        </p:spPr>
      </p:sp>
      <p:sp>
        <p:nvSpPr>
          <p:cNvPr id="29" name="Text 26"/>
          <p:cNvSpPr/>
          <p:nvPr/>
        </p:nvSpPr>
        <p:spPr>
          <a:xfrm>
            <a:off x="6686550" y="2764532"/>
            <a:ext cx="2413000" cy="415230"/>
          </a:xfrm>
          <a:prstGeom prst="rect">
            <a:avLst/>
          </a:prstGeom>
          <a:solidFill>
            <a:srgbClr val="F8E1DC"/>
          </a:solidFill>
          <a:ln/>
        </p:spPr>
        <p:txBody>
          <a:bodyPr wrap="square" lIns="139700" tIns="88900" rIns="7569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Not a focus</a:t>
            </a:r>
            <a:endParaRPr lang="en-US" sz="1600" dirty="0"/>
          </a:p>
        </p:txBody>
      </p:sp>
      <p:sp>
        <p:nvSpPr>
          <p:cNvPr id="30" name="Shape 27"/>
          <p:cNvSpPr/>
          <p:nvPr/>
        </p:nvSpPr>
        <p:spPr>
          <a:xfrm>
            <a:off x="6686550" y="3176588"/>
            <a:ext cx="2413000" cy="0"/>
          </a:xfrm>
          <a:prstGeom prst="line">
            <a:avLst/>
          </a:prstGeom>
          <a:noFill/>
          <a:ln w="6350">
            <a:solidFill>
              <a:srgbClr val="EFCFC7"/>
            </a:solidFill>
            <a:prstDash val="solid"/>
          </a:ln>
        </p:spPr>
      </p:sp>
      <p:sp>
        <p:nvSpPr>
          <p:cNvPr id="31" name="Text 28"/>
          <p:cNvSpPr/>
          <p:nvPr/>
        </p:nvSpPr>
        <p:spPr>
          <a:xfrm>
            <a:off x="9099550" y="2764532"/>
            <a:ext cx="2286000" cy="415230"/>
          </a:xfrm>
          <a:prstGeom prst="rect">
            <a:avLst/>
          </a:prstGeom>
          <a:solidFill>
            <a:srgbClr val="F8E1DC"/>
          </a:solidFill>
          <a:ln/>
        </p:spPr>
        <p:txBody>
          <a:bodyPr wrap="square" lIns="139700" tIns="88900" rIns="7950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Not a focus</a:t>
            </a:r>
            <a:endParaRPr lang="en-US" sz="1600" dirty="0"/>
          </a:p>
        </p:txBody>
      </p:sp>
      <p:sp>
        <p:nvSpPr>
          <p:cNvPr id="32" name="Shape 29"/>
          <p:cNvSpPr/>
          <p:nvPr/>
        </p:nvSpPr>
        <p:spPr>
          <a:xfrm>
            <a:off x="9099550" y="3176588"/>
            <a:ext cx="2286000" cy="0"/>
          </a:xfrm>
          <a:prstGeom prst="line">
            <a:avLst/>
          </a:prstGeom>
          <a:noFill/>
          <a:ln w="6350">
            <a:solidFill>
              <a:srgbClr val="EFCFC7"/>
            </a:solidFill>
            <a:prstDash val="solid"/>
          </a:ln>
        </p:spPr>
      </p:sp>
      <p:sp>
        <p:nvSpPr>
          <p:cNvPr id="33" name="Shape 30"/>
          <p:cNvSpPr/>
          <p:nvPr/>
        </p:nvSpPr>
        <p:spPr>
          <a:xfrm>
            <a:off x="819150" y="3591818"/>
            <a:ext cx="3175000" cy="0"/>
          </a:xfrm>
          <a:prstGeom prst="line">
            <a:avLst/>
          </a:prstGeom>
          <a:noFill/>
          <a:ln w="6350">
            <a:solidFill>
              <a:srgbClr val="E7E4DB"/>
            </a:solidFill>
            <a:prstDash val="solid"/>
          </a:ln>
        </p:spPr>
      </p:sp>
      <p:sp>
        <p:nvSpPr>
          <p:cNvPr id="34" name="Text 31"/>
          <p:cNvSpPr/>
          <p:nvPr/>
        </p:nvSpPr>
        <p:spPr>
          <a:xfrm>
            <a:off x="958850" y="3268663"/>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Practice investing, live prices</a:t>
            </a:r>
            <a:endParaRPr lang="en-US" sz="1600" dirty="0"/>
          </a:p>
        </p:txBody>
      </p:sp>
      <p:sp>
        <p:nvSpPr>
          <p:cNvPr id="35" name="Text 32"/>
          <p:cNvSpPr/>
          <p:nvPr/>
        </p:nvSpPr>
        <p:spPr>
          <a:xfrm>
            <a:off x="3994150" y="3179763"/>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 virtual money</a:t>
            </a:r>
            <a:endParaRPr lang="en-US" sz="1600" dirty="0"/>
          </a:p>
        </p:txBody>
      </p:sp>
      <p:sp>
        <p:nvSpPr>
          <p:cNvPr id="36" name="Shape 33"/>
          <p:cNvSpPr/>
          <p:nvPr/>
        </p:nvSpPr>
        <p:spPr>
          <a:xfrm>
            <a:off x="3994150" y="3591818"/>
            <a:ext cx="2692400" cy="0"/>
          </a:xfrm>
          <a:prstGeom prst="line">
            <a:avLst/>
          </a:prstGeom>
          <a:noFill/>
          <a:ln w="6350">
            <a:solidFill>
              <a:srgbClr val="CFE0CD"/>
            </a:solidFill>
            <a:prstDash val="solid"/>
          </a:ln>
        </p:spPr>
      </p:sp>
      <p:sp>
        <p:nvSpPr>
          <p:cNvPr id="37" name="Text 34"/>
          <p:cNvSpPr/>
          <p:nvPr/>
        </p:nvSpPr>
        <p:spPr>
          <a:xfrm>
            <a:off x="6686550" y="3179763"/>
            <a:ext cx="2413000" cy="415230"/>
          </a:xfrm>
          <a:prstGeom prst="rect">
            <a:avLst/>
          </a:prstGeom>
          <a:solidFill>
            <a:srgbClr val="F8E1DC"/>
          </a:solidFill>
          <a:ln/>
        </p:spPr>
        <p:txBody>
          <a:bodyPr wrap="square" lIns="139700" tIns="88900" rIns="7569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38" name="Shape 35"/>
          <p:cNvSpPr/>
          <p:nvPr/>
        </p:nvSpPr>
        <p:spPr>
          <a:xfrm>
            <a:off x="6686550" y="3591818"/>
            <a:ext cx="2413000" cy="0"/>
          </a:xfrm>
          <a:prstGeom prst="line">
            <a:avLst/>
          </a:prstGeom>
          <a:noFill/>
          <a:ln w="6350">
            <a:solidFill>
              <a:srgbClr val="EFCFC7"/>
            </a:solidFill>
            <a:prstDash val="solid"/>
          </a:ln>
        </p:spPr>
      </p:sp>
      <p:sp>
        <p:nvSpPr>
          <p:cNvPr id="39" name="Text 36"/>
          <p:cNvSpPr/>
          <p:nvPr/>
        </p:nvSpPr>
        <p:spPr>
          <a:xfrm>
            <a:off x="9099550" y="3179763"/>
            <a:ext cx="2286000" cy="415230"/>
          </a:xfrm>
          <a:prstGeom prst="rect">
            <a:avLst/>
          </a:prstGeom>
          <a:solidFill>
            <a:srgbClr val="F8E1DC"/>
          </a:solidFill>
          <a:ln/>
        </p:spPr>
        <p:txBody>
          <a:bodyPr wrap="square" lIns="139700" tIns="88900" rIns="7950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40" name="Shape 37"/>
          <p:cNvSpPr/>
          <p:nvPr/>
        </p:nvSpPr>
        <p:spPr>
          <a:xfrm>
            <a:off x="9099550" y="3591818"/>
            <a:ext cx="2286000" cy="0"/>
          </a:xfrm>
          <a:prstGeom prst="line">
            <a:avLst/>
          </a:prstGeom>
          <a:noFill/>
          <a:ln w="6350">
            <a:solidFill>
              <a:srgbClr val="EFCFC7"/>
            </a:solidFill>
            <a:prstDash val="solid"/>
          </a:ln>
        </p:spPr>
      </p:sp>
      <p:sp>
        <p:nvSpPr>
          <p:cNvPr id="41" name="Shape 38"/>
          <p:cNvSpPr/>
          <p:nvPr/>
        </p:nvSpPr>
        <p:spPr>
          <a:xfrm>
            <a:off x="819150" y="4007048"/>
            <a:ext cx="3175000" cy="0"/>
          </a:xfrm>
          <a:prstGeom prst="line">
            <a:avLst/>
          </a:prstGeom>
          <a:noFill/>
          <a:ln w="6350">
            <a:solidFill>
              <a:srgbClr val="E7E4DB"/>
            </a:solidFill>
            <a:prstDash val="solid"/>
          </a:ln>
        </p:spPr>
      </p:sp>
      <p:sp>
        <p:nvSpPr>
          <p:cNvPr id="42" name="Text 39"/>
          <p:cNvSpPr/>
          <p:nvPr/>
        </p:nvSpPr>
        <p:spPr>
          <a:xfrm>
            <a:off x="958850" y="3683893"/>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Voice call and WhatsApp</a:t>
            </a:r>
            <a:endParaRPr lang="en-US" sz="1600" dirty="0"/>
          </a:p>
        </p:txBody>
      </p:sp>
      <p:sp>
        <p:nvSpPr>
          <p:cNvPr id="43" name="Text 40"/>
          <p:cNvSpPr/>
          <p:nvPr/>
        </p:nvSpPr>
        <p:spPr>
          <a:xfrm>
            <a:off x="3994150" y="3594993"/>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a:t>
            </a:r>
            <a:endParaRPr lang="en-US" sz="1600" dirty="0"/>
          </a:p>
        </p:txBody>
      </p:sp>
      <p:sp>
        <p:nvSpPr>
          <p:cNvPr id="44" name="Shape 41"/>
          <p:cNvSpPr/>
          <p:nvPr/>
        </p:nvSpPr>
        <p:spPr>
          <a:xfrm>
            <a:off x="3994150" y="4007048"/>
            <a:ext cx="2692400" cy="0"/>
          </a:xfrm>
          <a:prstGeom prst="line">
            <a:avLst/>
          </a:prstGeom>
          <a:noFill/>
          <a:ln w="6350">
            <a:solidFill>
              <a:srgbClr val="CFE0CD"/>
            </a:solidFill>
            <a:prstDash val="solid"/>
          </a:ln>
        </p:spPr>
      </p:sp>
      <p:sp>
        <p:nvSpPr>
          <p:cNvPr id="45" name="Text 42"/>
          <p:cNvSpPr/>
          <p:nvPr/>
        </p:nvSpPr>
        <p:spPr>
          <a:xfrm>
            <a:off x="6686550" y="3594993"/>
            <a:ext cx="2413000" cy="415230"/>
          </a:xfrm>
          <a:prstGeom prst="rect">
            <a:avLst/>
          </a:prstGeom>
          <a:solidFill>
            <a:srgbClr val="F8E1DC"/>
          </a:solidFill>
          <a:ln/>
        </p:spPr>
        <p:txBody>
          <a:bodyPr wrap="square" lIns="139700" tIns="88900" rIns="7569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46" name="Shape 43"/>
          <p:cNvSpPr/>
          <p:nvPr/>
        </p:nvSpPr>
        <p:spPr>
          <a:xfrm>
            <a:off x="6686550" y="4007048"/>
            <a:ext cx="2413000" cy="0"/>
          </a:xfrm>
          <a:prstGeom prst="line">
            <a:avLst/>
          </a:prstGeom>
          <a:noFill/>
          <a:ln w="6350">
            <a:solidFill>
              <a:srgbClr val="EFCFC7"/>
            </a:solidFill>
            <a:prstDash val="solid"/>
          </a:ln>
        </p:spPr>
      </p:sp>
      <p:sp>
        <p:nvSpPr>
          <p:cNvPr id="47" name="Text 44"/>
          <p:cNvSpPr/>
          <p:nvPr/>
        </p:nvSpPr>
        <p:spPr>
          <a:xfrm>
            <a:off x="9099550" y="3594993"/>
            <a:ext cx="2286000" cy="415230"/>
          </a:xfrm>
          <a:prstGeom prst="rect">
            <a:avLst/>
          </a:prstGeom>
          <a:solidFill>
            <a:srgbClr val="F8E1DC"/>
          </a:solidFill>
          <a:ln/>
        </p:spPr>
        <p:txBody>
          <a:bodyPr wrap="square" lIns="139700" tIns="88900" rIns="7950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48" name="Shape 45"/>
          <p:cNvSpPr/>
          <p:nvPr/>
        </p:nvSpPr>
        <p:spPr>
          <a:xfrm>
            <a:off x="9099550" y="4007048"/>
            <a:ext cx="2286000" cy="0"/>
          </a:xfrm>
          <a:prstGeom prst="line">
            <a:avLst/>
          </a:prstGeom>
          <a:noFill/>
          <a:ln w="6350">
            <a:solidFill>
              <a:srgbClr val="EFCFC7"/>
            </a:solidFill>
            <a:prstDash val="solid"/>
          </a:ln>
        </p:spPr>
      </p:sp>
      <p:sp>
        <p:nvSpPr>
          <p:cNvPr id="49" name="Shape 46"/>
          <p:cNvSpPr/>
          <p:nvPr/>
        </p:nvSpPr>
        <p:spPr>
          <a:xfrm>
            <a:off x="819150" y="4422279"/>
            <a:ext cx="3175000" cy="0"/>
          </a:xfrm>
          <a:prstGeom prst="line">
            <a:avLst/>
          </a:prstGeom>
          <a:noFill/>
          <a:ln w="6350">
            <a:solidFill>
              <a:srgbClr val="E7E4DB"/>
            </a:solidFill>
            <a:prstDash val="solid"/>
          </a:ln>
        </p:spPr>
      </p:sp>
      <p:sp>
        <p:nvSpPr>
          <p:cNvPr id="50" name="Text 47"/>
          <p:cNvSpPr/>
          <p:nvPr/>
        </p:nvSpPr>
        <p:spPr>
          <a:xfrm>
            <a:off x="958850" y="4099123"/>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Public developer API</a:t>
            </a:r>
            <a:endParaRPr lang="en-US" sz="1600" dirty="0"/>
          </a:p>
        </p:txBody>
      </p:sp>
      <p:sp>
        <p:nvSpPr>
          <p:cNvPr id="51" name="Text 48"/>
          <p:cNvSpPr/>
          <p:nvPr/>
        </p:nvSpPr>
        <p:spPr>
          <a:xfrm>
            <a:off x="3994150" y="4010223"/>
            <a:ext cx="2692400" cy="415230"/>
          </a:xfrm>
          <a:prstGeom prst="rect">
            <a:avLst/>
          </a:prstGeom>
          <a:solidFill>
            <a:srgbClr val="E2EEE1"/>
          </a:solidFill>
          <a:ln/>
        </p:spPr>
        <p:txBody>
          <a:bodyPr wrap="square" lIns="139700" tIns="88900" rIns="67310" bIns="6985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Yes</a:t>
            </a:r>
            <a:endParaRPr lang="en-US" sz="1600" dirty="0"/>
          </a:p>
        </p:txBody>
      </p:sp>
      <p:sp>
        <p:nvSpPr>
          <p:cNvPr id="52" name="Shape 49"/>
          <p:cNvSpPr/>
          <p:nvPr/>
        </p:nvSpPr>
        <p:spPr>
          <a:xfrm>
            <a:off x="3994150" y="4422279"/>
            <a:ext cx="2692400" cy="0"/>
          </a:xfrm>
          <a:prstGeom prst="line">
            <a:avLst/>
          </a:prstGeom>
          <a:noFill/>
          <a:ln w="6350">
            <a:solidFill>
              <a:srgbClr val="CFE0CD"/>
            </a:solidFill>
            <a:prstDash val="solid"/>
          </a:ln>
        </p:spPr>
      </p:sp>
      <p:sp>
        <p:nvSpPr>
          <p:cNvPr id="53" name="Text 50"/>
          <p:cNvSpPr/>
          <p:nvPr/>
        </p:nvSpPr>
        <p:spPr>
          <a:xfrm>
            <a:off x="6686550" y="4010223"/>
            <a:ext cx="2413000" cy="415230"/>
          </a:xfrm>
          <a:prstGeom prst="rect">
            <a:avLst/>
          </a:prstGeom>
          <a:solidFill>
            <a:srgbClr val="F8E1DC"/>
          </a:solidFill>
          <a:ln/>
        </p:spPr>
        <p:txBody>
          <a:bodyPr wrap="square" lIns="139700" tIns="88900" rIns="75692" bIns="69850" rtlCol="0" anchor="t">
            <a:normAutofit/>
          </a:bodyPr>
          <a:lstStyle/>
          <a:p>
            <a:pPr marL="0" indent="0" algn="l">
              <a:lnSpc>
                <a:spcPts val="1820"/>
              </a:lnSpc>
              <a:buNone/>
            </a:pPr>
            <a:r>
              <a:rPr lang="en-US" sz="1600" b="1" dirty="0">
                <a:solidFill>
                  <a:srgbClr val="9A3426"/>
                </a:solidFill>
                <a:latin typeface="Arial" pitchFamily="34" charset="0"/>
                <a:ea typeface="Arial" pitchFamily="34" charset="-122"/>
                <a:cs typeface="Arial" pitchFamily="34" charset="-120"/>
              </a:rPr>
              <a:t>No</a:t>
            </a:r>
            <a:endParaRPr lang="en-US" sz="1600" dirty="0"/>
          </a:p>
        </p:txBody>
      </p:sp>
      <p:sp>
        <p:nvSpPr>
          <p:cNvPr id="54" name="Shape 51"/>
          <p:cNvSpPr/>
          <p:nvPr/>
        </p:nvSpPr>
        <p:spPr>
          <a:xfrm>
            <a:off x="6686550" y="4422279"/>
            <a:ext cx="2413000" cy="0"/>
          </a:xfrm>
          <a:prstGeom prst="line">
            <a:avLst/>
          </a:prstGeom>
          <a:noFill/>
          <a:ln w="6350">
            <a:solidFill>
              <a:srgbClr val="EFCFC7"/>
            </a:solidFill>
            <a:prstDash val="solid"/>
          </a:ln>
        </p:spPr>
      </p:sp>
      <p:sp>
        <p:nvSpPr>
          <p:cNvPr id="55" name="Shape 52"/>
          <p:cNvSpPr/>
          <p:nvPr/>
        </p:nvSpPr>
        <p:spPr>
          <a:xfrm>
            <a:off x="9099550" y="4422279"/>
            <a:ext cx="2286000" cy="0"/>
          </a:xfrm>
          <a:prstGeom prst="line">
            <a:avLst/>
          </a:prstGeom>
          <a:noFill/>
          <a:ln w="6350">
            <a:solidFill>
              <a:srgbClr val="E7E4DB"/>
            </a:solidFill>
            <a:prstDash val="solid"/>
          </a:ln>
        </p:spPr>
      </p:sp>
      <p:sp>
        <p:nvSpPr>
          <p:cNvPr id="56" name="Text 53"/>
          <p:cNvSpPr/>
          <p:nvPr/>
        </p:nvSpPr>
        <p:spPr>
          <a:xfrm>
            <a:off x="9239250" y="4099123"/>
            <a:ext cx="206679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Yes</a:t>
            </a:r>
            <a:endParaRPr lang="en-US" sz="1600" dirty="0"/>
          </a:p>
        </p:txBody>
      </p:sp>
      <p:sp>
        <p:nvSpPr>
          <p:cNvPr id="57" name="Text 54"/>
          <p:cNvSpPr/>
          <p:nvPr/>
        </p:nvSpPr>
        <p:spPr>
          <a:xfrm>
            <a:off x="958850" y="4514354"/>
            <a:ext cx="2982468" cy="25648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292920"/>
                </a:solidFill>
                <a:latin typeface="Arial" pitchFamily="34" charset="0"/>
                <a:ea typeface="Arial" pitchFamily="34" charset="-122"/>
                <a:cs typeface="Arial" pitchFamily="34" charset="-120"/>
              </a:rPr>
              <a:t>Price</a:t>
            </a:r>
            <a:endParaRPr lang="en-US" sz="1600" dirty="0"/>
          </a:p>
        </p:txBody>
      </p:sp>
      <p:sp>
        <p:nvSpPr>
          <p:cNvPr id="58" name="Text 55"/>
          <p:cNvSpPr/>
          <p:nvPr/>
        </p:nvSpPr>
        <p:spPr>
          <a:xfrm>
            <a:off x="3994150" y="4425454"/>
            <a:ext cx="2692400" cy="573881"/>
          </a:xfrm>
          <a:prstGeom prst="rect">
            <a:avLst/>
          </a:prstGeom>
          <a:solidFill>
            <a:srgbClr val="E2EEE1"/>
          </a:solidFill>
          <a:ln/>
        </p:spPr>
        <p:txBody>
          <a:bodyPr wrap="square" lIns="139700" tIns="88900" rIns="67310" bIns="88900" rtlCol="0" anchor="t">
            <a:normAutofit/>
          </a:bodyPr>
          <a:lstStyle/>
          <a:p>
            <a:pPr marL="0" indent="0" algn="l">
              <a:lnSpc>
                <a:spcPts val="1820"/>
              </a:lnSpc>
              <a:buNone/>
            </a:pPr>
            <a:r>
              <a:rPr lang="en-US" sz="1600" b="1" dirty="0">
                <a:solidFill>
                  <a:srgbClr val="2F5E46"/>
                </a:solidFill>
                <a:latin typeface="Arial" pitchFamily="34" charset="0"/>
                <a:ea typeface="Arial" pitchFamily="34" charset="-122"/>
                <a:cs typeface="Arial" pitchFamily="34" charset="-120"/>
              </a:rPr>
              <a:t>Free core; Plus $3.99/mo</a:t>
            </a:r>
            <a:endParaRPr lang="en-US" sz="1600" dirty="0"/>
          </a:p>
        </p:txBody>
      </p:sp>
      <p:sp>
        <p:nvSpPr>
          <p:cNvPr id="59" name="Text 56"/>
          <p:cNvSpPr/>
          <p:nvPr/>
        </p:nvSpPr>
        <p:spPr>
          <a:xfrm>
            <a:off x="6826250" y="4514354"/>
            <a:ext cx="2197608"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$7–14/mo; 35–60% fee on negotiated bills</a:t>
            </a:r>
            <a:endParaRPr lang="en-US" sz="1600" dirty="0"/>
          </a:p>
        </p:txBody>
      </p:sp>
      <p:sp>
        <p:nvSpPr>
          <p:cNvPr id="60" name="Text 57"/>
          <p:cNvSpPr/>
          <p:nvPr/>
        </p:nvSpPr>
        <p:spPr>
          <a:xfrm>
            <a:off x="9239250" y="4514354"/>
            <a:ext cx="2066798" cy="421481"/>
          </a:xfrm>
          <a:prstGeom prst="rect">
            <a:avLst/>
          </a:prstGeom>
          <a:noFill/>
          <a:ln/>
        </p:spPr>
        <p:txBody>
          <a:bodyPr wrap="square" lIns="0" tIns="0" rIns="0" bIns="0" rtlCol="0" anchor="t">
            <a:normAutofit/>
          </a:bodyPr>
          <a:lstStyle/>
          <a:p>
            <a:pPr marL="0" indent="0" algn="l">
              <a:lnSpc>
                <a:spcPts val="1560"/>
              </a:lnSpc>
              <a:buNone/>
            </a:pPr>
            <a:r>
              <a:rPr lang="en-US" sz="1600" dirty="0">
                <a:solidFill>
                  <a:srgbClr val="4A493F"/>
                </a:solidFill>
                <a:latin typeface="Arial" pitchFamily="34" charset="0"/>
                <a:ea typeface="Arial" pitchFamily="34" charset="-122"/>
                <a:cs typeface="Arial" pitchFamily="34" charset="-120"/>
              </a:rPr>
              <a:t>$109/yr; free year for students</a:t>
            </a:r>
            <a:endParaRPr lang="en-US" sz="1600" dirty="0"/>
          </a:p>
        </p:txBody>
      </p:sp>
      <p:sp>
        <p:nvSpPr>
          <p:cNvPr id="61" name="Text 58"/>
          <p:cNvSpPr/>
          <p:nvPr/>
        </p:nvSpPr>
        <p:spPr>
          <a:xfrm>
            <a:off x="812800" y="5208885"/>
            <a:ext cx="10464800" cy="292100"/>
          </a:xfrm>
          <a:prstGeom prst="rect">
            <a:avLst/>
          </a:prstGeom>
          <a:noFill/>
          <a:ln/>
        </p:spPr>
        <p:txBody>
          <a:bodyPr wrap="square" lIns="0" tIns="0" rIns="0" bIns="0" rtlCol="0" anchor="t">
            <a:normAutofit/>
          </a:bodyPr>
          <a:lstStyle/>
          <a:p>
            <a:pPr marL="0" indent="0" algn="l">
              <a:lnSpc>
                <a:spcPts val="2100"/>
              </a:lnSpc>
              <a:buNone/>
            </a:pPr>
            <a:r>
              <a:rPr lang="en-US" sz="1600" b="1" dirty="0">
                <a:solidFill>
                  <a:srgbClr val="292920"/>
                </a:solidFill>
                <a:latin typeface="Arial" pitchFamily="34" charset="0"/>
                <a:ea typeface="Arial" pitchFamily="34" charset="-122"/>
                <a:cs typeface="Arial" pitchFamily="34" charset="-120"/>
              </a:rPr>
              <a:t>The only assistant built around student decision moments</a:t>
            </a:r>
            <a:r>
              <a:rPr lang="en-US" sz="1600" dirty="0">
                <a:solidFill>
                  <a:srgbClr val="292920"/>
                </a:solidFill>
                <a:latin typeface="Arial" pitchFamily="34" charset="0"/>
                <a:ea typeface="Arial" pitchFamily="34" charset="-122"/>
                <a:cs typeface="Arial" pitchFamily="34" charset="-120"/>
              </a:rPr>
              <a:t>, and the only one that turns an aid refund into a plan.</a:t>
            </a:r>
            <a:endParaRPr lang="en-US" sz="1600" dirty="0"/>
          </a:p>
        </p:txBody>
      </p:sp>
      <p:sp>
        <p:nvSpPr>
          <p:cNvPr id="62" name="Text 59"/>
          <p:cNvSpPr/>
          <p:nvPr/>
        </p:nvSpPr>
        <p:spPr>
          <a:xfrm>
            <a:off x="828568" y="5925840"/>
            <a:ext cx="10883392" cy="238720"/>
          </a:xfrm>
          <a:prstGeom prst="rect">
            <a:avLst/>
          </a:prstGeom>
          <a:noFill/>
          <a:ln/>
        </p:spPr>
        <p:txBody>
          <a:bodyPr wrap="square" lIns="0" tIns="0" rIns="0" bIns="0" rtlCol="0" anchor="t">
            <a:noAutofit/>
          </a:bodyPr>
          <a:lstStyle/>
          <a:p>
            <a:pPr marL="0" indent="0" algn="l">
              <a:lnSpc>
                <a:spcPts val="1680"/>
              </a:lnSpc>
              <a:buNone/>
            </a:pPr>
            <a:r>
              <a:rPr lang="en-US" sz="2000" dirty="0">
                <a:solidFill>
                  <a:srgbClr val="6B6A60"/>
                </a:solidFill>
                <a:latin typeface="Arial" pitchFamily="34" charset="0"/>
                <a:ea typeface="Arial" pitchFamily="34" charset="-122"/>
                <a:cs typeface="Arial" pitchFamily="34" charset="-120"/>
              </a:rPr>
              <a:t>Green: Brix has it. Red: the competitor doesn’t. From public pricing pages and reviews, October 2026; they may change.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A big, reachable first market</a:t>
            </a:r>
            <a:endParaRPr lang="en-US" sz="3600" dirty="0"/>
          </a:p>
        </p:txBody>
      </p:sp>
      <p:pic>
        <p:nvPicPr>
          <p:cNvPr id="3" name="Image 0" descr="ellipse"/>
          <p:cNvPicPr>
            <a:picLocks noChangeAspect="1"/>
          </p:cNvPicPr>
          <p:nvPr/>
        </p:nvPicPr>
        <p:blipFill>
          <a:blip r:embed="rId3"/>
          <a:srcRect/>
          <a:stretch/>
        </p:blipFill>
        <p:spPr>
          <a:xfrm>
            <a:off x="812800" y="1813520"/>
            <a:ext cx="3810000" cy="3810000"/>
          </a:xfrm>
          <a:prstGeom prst="rect">
            <a:avLst/>
          </a:prstGeom>
        </p:spPr>
      </p:pic>
      <p:pic>
        <p:nvPicPr>
          <p:cNvPr id="4" name="Image 1" descr="ellipse"/>
          <p:cNvPicPr>
            <a:picLocks noChangeAspect="1"/>
          </p:cNvPicPr>
          <p:nvPr/>
        </p:nvPicPr>
        <p:blipFill>
          <a:blip r:embed="rId4"/>
          <a:srcRect/>
          <a:stretch/>
        </p:blipFill>
        <p:spPr>
          <a:xfrm>
            <a:off x="1447800" y="3083520"/>
            <a:ext cx="2540000" cy="2540000"/>
          </a:xfrm>
          <a:prstGeom prst="rect">
            <a:avLst/>
          </a:prstGeom>
        </p:spPr>
      </p:pic>
      <p:pic>
        <p:nvPicPr>
          <p:cNvPr id="5" name="Image 2" descr="ellipse"/>
          <p:cNvPicPr>
            <a:picLocks noChangeAspect="1"/>
          </p:cNvPicPr>
          <p:nvPr/>
        </p:nvPicPr>
        <p:blipFill>
          <a:blip r:embed="rId5"/>
          <a:srcRect/>
          <a:stretch/>
        </p:blipFill>
        <p:spPr>
          <a:xfrm>
            <a:off x="2082800" y="4353520"/>
            <a:ext cx="1270000" cy="1270000"/>
          </a:xfrm>
          <a:prstGeom prst="rect">
            <a:avLst/>
          </a:prstGeom>
        </p:spPr>
      </p:pic>
      <p:sp>
        <p:nvSpPr>
          <p:cNvPr id="6" name="Text 1"/>
          <p:cNvSpPr/>
          <p:nvPr/>
        </p:nvSpPr>
        <p:spPr>
          <a:xfrm>
            <a:off x="1409700" y="2219920"/>
            <a:ext cx="2616200" cy="487660"/>
          </a:xfrm>
          <a:prstGeom prst="rect">
            <a:avLst/>
          </a:prstGeom>
          <a:noFill/>
          <a:ln/>
        </p:spPr>
        <p:txBody>
          <a:bodyPr wrap="square" lIns="0" tIns="0" rIns="0" bIns="0" rtlCol="0" anchor="t">
            <a:normAutofit/>
          </a:bodyPr>
          <a:lstStyle/>
          <a:p>
            <a:pPr marL="0" indent="0" algn="ctr">
              <a:lnSpc>
                <a:spcPts val="3640"/>
              </a:lnSpc>
              <a:buNone/>
            </a:pPr>
            <a:r>
              <a:rPr lang="en-US" sz="2600" b="1" dirty="0">
                <a:solidFill>
                  <a:srgbClr val="292920"/>
                </a:solidFill>
                <a:latin typeface="Arial" pitchFamily="34" charset="0"/>
                <a:ea typeface="Arial" pitchFamily="34" charset="-122"/>
                <a:cs typeface="Arial" pitchFamily="34" charset="-120"/>
              </a:rPr>
              <a:t>19.4M</a:t>
            </a:r>
            <a:endParaRPr lang="en-US" sz="2600" dirty="0"/>
          </a:p>
        </p:txBody>
      </p:sp>
      <p:sp>
        <p:nvSpPr>
          <p:cNvPr id="7" name="Text 2"/>
          <p:cNvSpPr/>
          <p:nvPr/>
        </p:nvSpPr>
        <p:spPr>
          <a:xfrm>
            <a:off x="1409700" y="2651720"/>
            <a:ext cx="2616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93F"/>
                </a:solidFill>
                <a:latin typeface="Arial" pitchFamily="34" charset="0"/>
                <a:ea typeface="Arial" pitchFamily="34" charset="-122"/>
                <a:cs typeface="Arial" pitchFamily="34" charset="-120"/>
              </a:rPr>
              <a:t>college students</a:t>
            </a:r>
            <a:endParaRPr lang="en-US" sz="1200" dirty="0"/>
          </a:p>
        </p:txBody>
      </p:sp>
      <p:sp>
        <p:nvSpPr>
          <p:cNvPr id="8" name="Text 3"/>
          <p:cNvSpPr/>
          <p:nvPr/>
        </p:nvSpPr>
        <p:spPr>
          <a:xfrm>
            <a:off x="1409700" y="3515320"/>
            <a:ext cx="2616200" cy="452041"/>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292920"/>
                </a:solidFill>
                <a:latin typeface="Arial" pitchFamily="34" charset="0"/>
                <a:ea typeface="Arial" pitchFamily="34" charset="-122"/>
                <a:cs typeface="Arial" pitchFamily="34" charset="-120"/>
              </a:rPr>
              <a:t>$931M</a:t>
            </a:r>
            <a:endParaRPr lang="en-US" sz="2400" dirty="0"/>
          </a:p>
        </p:txBody>
      </p:sp>
      <p:sp>
        <p:nvSpPr>
          <p:cNvPr id="9" name="Text 4"/>
          <p:cNvSpPr/>
          <p:nvPr/>
        </p:nvSpPr>
        <p:spPr>
          <a:xfrm>
            <a:off x="1409700" y="3909020"/>
            <a:ext cx="2616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92920"/>
                </a:solidFill>
                <a:latin typeface="Arial" pitchFamily="34" charset="0"/>
                <a:ea typeface="Arial" pitchFamily="34" charset="-122"/>
                <a:cs typeface="Arial" pitchFamily="34" charset="-120"/>
              </a:rPr>
              <a:t>a year</a:t>
            </a:r>
            <a:endParaRPr lang="en-US" sz="1200" dirty="0"/>
          </a:p>
        </p:txBody>
      </p:sp>
      <p:sp>
        <p:nvSpPr>
          <p:cNvPr id="10" name="Text 5"/>
          <p:cNvSpPr/>
          <p:nvPr/>
        </p:nvSpPr>
        <p:spPr>
          <a:xfrm>
            <a:off x="2057400" y="4798020"/>
            <a:ext cx="1320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FBF7F2"/>
                </a:solidFill>
                <a:latin typeface="Arial" pitchFamily="34" charset="0"/>
                <a:ea typeface="Arial" pitchFamily="34" charset="-122"/>
                <a:cs typeface="Arial" pitchFamily="34" charset="-120"/>
              </a:rPr>
              <a:t>50K</a:t>
            </a:r>
            <a:endParaRPr lang="en-US" sz="2000" dirty="0"/>
          </a:p>
        </p:txBody>
      </p:sp>
      <p:sp>
        <p:nvSpPr>
          <p:cNvPr id="11" name="Text 6"/>
          <p:cNvSpPr/>
          <p:nvPr/>
        </p:nvSpPr>
        <p:spPr>
          <a:xfrm>
            <a:off x="2057400" y="512822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BF7F2"/>
                </a:solidFill>
                <a:latin typeface="Arial" pitchFamily="34" charset="0"/>
                <a:ea typeface="Arial" pitchFamily="34" charset="-122"/>
                <a:cs typeface="Arial" pitchFamily="34" charset="-120"/>
              </a:rPr>
              <a:t>year two</a:t>
            </a:r>
            <a:endParaRPr lang="en-US" sz="1200" dirty="0"/>
          </a:p>
        </p:txBody>
      </p:sp>
      <p:pic>
        <p:nvPicPr>
          <p:cNvPr id="12" name="Image 3" descr="Users"/>
          <p:cNvPicPr>
            <a:picLocks noChangeAspect="1"/>
          </p:cNvPicPr>
          <p:nvPr/>
        </p:nvPicPr>
        <p:blipFill>
          <a:blip r:embed="rId6"/>
          <a:srcRect/>
          <a:stretch/>
        </p:blipFill>
        <p:spPr>
          <a:xfrm>
            <a:off x="5080000" y="2556570"/>
            <a:ext cx="355600" cy="355600"/>
          </a:xfrm>
          <a:prstGeom prst="rect">
            <a:avLst/>
          </a:prstGeom>
        </p:spPr>
      </p:pic>
      <p:sp>
        <p:nvSpPr>
          <p:cNvPr id="13" name="Text 7"/>
          <p:cNvSpPr/>
          <p:nvPr/>
        </p:nvSpPr>
        <p:spPr>
          <a:xfrm>
            <a:off x="5588000" y="2556570"/>
            <a:ext cx="59649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92920"/>
                </a:solidFill>
                <a:latin typeface="Arial" pitchFamily="34" charset="0"/>
                <a:ea typeface="Arial" pitchFamily="34" charset="-122"/>
                <a:cs typeface="Arial" pitchFamily="34" charset="-120"/>
              </a:rPr>
              <a:t>19.4M U.S. college students</a:t>
            </a:r>
            <a:endParaRPr lang="en-US" sz="1700" dirty="0"/>
          </a:p>
        </p:txBody>
      </p:sp>
      <p:sp>
        <p:nvSpPr>
          <p:cNvPr id="14" name="Text 8"/>
          <p:cNvSpPr/>
          <p:nvPr/>
        </p:nvSpPr>
        <p:spPr>
          <a:xfrm>
            <a:off x="5588000" y="2853730"/>
            <a:ext cx="5964936" cy="256480"/>
          </a:xfrm>
          <a:prstGeom prst="rect">
            <a:avLst/>
          </a:prstGeom>
          <a:noFill/>
          <a:ln/>
        </p:spPr>
        <p:txBody>
          <a:bodyPr wrap="square" lIns="0" tIns="0" rIns="0" bIns="0" rtlCol="0" anchor="t">
            <a:no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Everyone who signs up for trials, gets aid refunds and starts investing.</a:t>
            </a:r>
            <a:endParaRPr lang="en-US" sz="1600" dirty="0"/>
          </a:p>
        </p:txBody>
      </p:sp>
      <p:pic>
        <p:nvPicPr>
          <p:cNvPr id="15" name="Image 4" descr="Gold coin"/>
          <p:cNvPicPr>
            <a:picLocks noChangeAspect="1"/>
          </p:cNvPicPr>
          <p:nvPr/>
        </p:nvPicPr>
        <p:blipFill>
          <a:blip r:embed="rId7"/>
          <a:srcRect/>
          <a:stretch/>
        </p:blipFill>
        <p:spPr>
          <a:xfrm>
            <a:off x="5080000" y="3338810"/>
            <a:ext cx="355600" cy="355600"/>
          </a:xfrm>
          <a:prstGeom prst="rect">
            <a:avLst/>
          </a:prstGeom>
        </p:spPr>
      </p:pic>
      <p:sp>
        <p:nvSpPr>
          <p:cNvPr id="16" name="Text 9"/>
          <p:cNvSpPr/>
          <p:nvPr/>
        </p:nvSpPr>
        <p:spPr>
          <a:xfrm>
            <a:off x="5588000" y="3338810"/>
            <a:ext cx="59649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92920"/>
                </a:solidFill>
                <a:latin typeface="Arial" pitchFamily="34" charset="0"/>
                <a:ea typeface="Arial" pitchFamily="34" charset="-122"/>
                <a:cs typeface="Arial" pitchFamily="34" charset="-120"/>
              </a:rPr>
              <a:t>About $931M a year</a:t>
            </a:r>
            <a:endParaRPr lang="en-US" sz="1700" dirty="0"/>
          </a:p>
        </p:txBody>
      </p:sp>
      <p:sp>
        <p:nvSpPr>
          <p:cNvPr id="17" name="Text 10"/>
          <p:cNvSpPr/>
          <p:nvPr/>
        </p:nvSpPr>
        <p:spPr>
          <a:xfrm>
            <a:off x="5588000" y="3635970"/>
            <a:ext cx="5964936" cy="487561"/>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19.4M students × $48 a year for Brix Plus. Bank partners add a second channel.</a:t>
            </a:r>
            <a:endParaRPr lang="en-US" sz="1600" dirty="0"/>
          </a:p>
        </p:txBody>
      </p:sp>
      <p:pic>
        <p:nvPicPr>
          <p:cNvPr id="18" name="Image 5" descr="GraduationCap"/>
          <p:cNvPicPr>
            <a:picLocks noChangeAspect="1"/>
          </p:cNvPicPr>
          <p:nvPr/>
        </p:nvPicPr>
        <p:blipFill>
          <a:blip r:embed="rId8"/>
          <a:srcRect/>
          <a:stretch/>
        </p:blipFill>
        <p:spPr>
          <a:xfrm>
            <a:off x="5080000" y="4352131"/>
            <a:ext cx="355600" cy="355600"/>
          </a:xfrm>
          <a:prstGeom prst="rect">
            <a:avLst/>
          </a:prstGeom>
        </p:spPr>
      </p:pic>
      <p:sp>
        <p:nvSpPr>
          <p:cNvPr id="19" name="Text 11"/>
          <p:cNvSpPr/>
          <p:nvPr/>
        </p:nvSpPr>
        <p:spPr>
          <a:xfrm>
            <a:off x="5588000" y="4352131"/>
            <a:ext cx="59649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92920"/>
                </a:solidFill>
                <a:latin typeface="Arial" pitchFamily="34" charset="0"/>
                <a:ea typeface="Arial" pitchFamily="34" charset="-122"/>
                <a:cs typeface="Arial" pitchFamily="34" charset="-120"/>
              </a:rPr>
              <a:t>50,000 students by year two</a:t>
            </a:r>
            <a:endParaRPr lang="en-US" sz="1700" dirty="0"/>
          </a:p>
        </p:txBody>
      </p:sp>
      <p:sp>
        <p:nvSpPr>
          <p:cNvPr id="20" name="Text 12"/>
          <p:cNvSpPr/>
          <p:nvPr/>
        </p:nvSpPr>
        <p:spPr>
          <a:xfrm>
            <a:off x="5588000" y="4649290"/>
            <a:ext cx="5964936" cy="735609"/>
          </a:xfrm>
          <a:prstGeom prst="rect">
            <a:avLst/>
          </a:prstGeom>
          <a:noFill/>
          <a:ln/>
        </p:spPr>
        <p:txBody>
          <a:bodyPr wrap="square" lIns="0" tIns="0" rIns="0" bIns="0" rtlCol="0" anchor="t">
            <a:noAutofit/>
          </a:bodyPr>
          <a:lstStyle/>
          <a:p>
            <a:pPr marL="0" indent="0" algn="l">
              <a:lnSpc>
                <a:spcPts val="1820"/>
              </a:lnSpc>
              <a:buNone/>
            </a:pPr>
            <a:r>
              <a:rPr lang="en-US" sz="1600" dirty="0">
                <a:solidFill>
                  <a:srgbClr val="4A493F"/>
                </a:solidFill>
                <a:latin typeface="Arial" pitchFamily="34" charset="0"/>
                <a:ea typeface="Arial" pitchFamily="34" charset="-122"/>
                <a:cs typeface="Arial" pitchFamily="34" charset="-120"/>
              </a:rPr>
              <a:t>25 campuses, starting with one pilot campus, plus 2 bank or credit-union pilots.</a:t>
            </a:r>
            <a:endParaRPr lang="en-US" sz="1600" dirty="0"/>
          </a:p>
        </p:txBody>
      </p:sp>
      <p:sp>
        <p:nvSpPr>
          <p:cNvPr id="21"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Enrollment: National Student Clearinghouse Research Center, fall 2025. Pricing, market value and user goals are our planning assumptions.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Four ways Brix makes money</a:t>
            </a:r>
            <a:endParaRPr lang="en-US" sz="3600" dirty="0"/>
          </a:p>
        </p:txBody>
      </p:sp>
      <p:sp>
        <p:nvSpPr>
          <p:cNvPr id="3" name="Shape 1"/>
          <p:cNvSpPr/>
          <p:nvPr/>
        </p:nvSpPr>
        <p:spPr>
          <a:xfrm>
            <a:off x="815975" y="1598216"/>
            <a:ext cx="5200650" cy="2171700"/>
          </a:xfrm>
          <a:prstGeom prst="roundRect">
            <a:avLst>
              <a:gd name="adj" fmla="val 5702"/>
            </a:avLst>
          </a:prstGeom>
          <a:solidFill>
            <a:srgbClr val="FFFEFA"/>
          </a:solidFill>
          <a:ln w="6350">
            <a:solidFill>
              <a:srgbClr val="E7E4DB"/>
            </a:solidFill>
            <a:prstDash val="solid"/>
          </a:ln>
        </p:spPr>
      </p:sp>
      <p:pic>
        <p:nvPicPr>
          <p:cNvPr id="4" name="Image 0" descr="Users"/>
          <p:cNvPicPr>
            <a:picLocks noChangeAspect="1"/>
          </p:cNvPicPr>
          <p:nvPr/>
        </p:nvPicPr>
        <p:blipFill>
          <a:blip r:embed="rId3"/>
          <a:srcRect/>
          <a:stretch/>
        </p:blipFill>
        <p:spPr>
          <a:xfrm>
            <a:off x="1047750" y="1804591"/>
            <a:ext cx="406400" cy="406400"/>
          </a:xfrm>
          <a:prstGeom prst="rect">
            <a:avLst/>
          </a:prstGeom>
        </p:spPr>
      </p:pic>
      <p:sp>
        <p:nvSpPr>
          <p:cNvPr id="5" name="Text 2"/>
          <p:cNvSpPr/>
          <p:nvPr/>
        </p:nvSpPr>
        <p:spPr>
          <a:xfrm>
            <a:off x="1606550" y="1804591"/>
            <a:ext cx="43036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B2C · STUDENTS</a:t>
            </a:r>
            <a:endParaRPr lang="en-US" sz="1200" dirty="0"/>
          </a:p>
        </p:txBody>
      </p:sp>
      <p:sp>
        <p:nvSpPr>
          <p:cNvPr id="6" name="Text 3"/>
          <p:cNvSpPr/>
          <p:nvPr/>
        </p:nvSpPr>
        <p:spPr>
          <a:xfrm>
            <a:off x="1606550" y="2081411"/>
            <a:ext cx="430364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92920"/>
                </a:solidFill>
                <a:latin typeface="Arial" pitchFamily="34" charset="0"/>
                <a:ea typeface="Arial" pitchFamily="34" charset="-122"/>
                <a:cs typeface="Arial" pitchFamily="34" charset="-120"/>
              </a:rPr>
              <a:t>Free core, Brix Plus at $3.99/mo</a:t>
            </a:r>
            <a:endParaRPr lang="en-US" sz="1800" dirty="0"/>
          </a:p>
        </p:txBody>
      </p:sp>
      <p:sp>
        <p:nvSpPr>
          <p:cNvPr id="7" name="Text 4"/>
          <p:cNvSpPr/>
          <p:nvPr/>
        </p:nvSpPr>
        <p:spPr>
          <a:xfrm>
            <a:off x="1606550" y="2419152"/>
            <a:ext cx="43036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93F"/>
                </a:solidFill>
                <a:latin typeface="Arial" pitchFamily="34" charset="0"/>
                <a:ea typeface="Arial" pitchFamily="34" charset="-122"/>
                <a:cs typeface="Arial" pitchFamily="34" charset="-120"/>
              </a:rPr>
              <a:t>Tracking, alerts and refund plans are free. Plus adds WhatsApp and voice, gift card nudges and practice investing.</a:t>
            </a:r>
            <a:endParaRPr lang="en-US" sz="1300" dirty="0"/>
          </a:p>
        </p:txBody>
      </p:sp>
      <p:sp>
        <p:nvSpPr>
          <p:cNvPr id="8" name="Shape 5"/>
          <p:cNvSpPr/>
          <p:nvPr/>
        </p:nvSpPr>
        <p:spPr>
          <a:xfrm>
            <a:off x="6172200" y="1595041"/>
            <a:ext cx="5207000" cy="2178050"/>
          </a:xfrm>
          <a:prstGeom prst="roundRect">
            <a:avLst>
              <a:gd name="adj" fmla="val 5831"/>
            </a:avLst>
          </a:prstGeom>
          <a:solidFill>
            <a:srgbClr val="292920"/>
          </a:solidFill>
          <a:ln/>
        </p:spPr>
      </p:sp>
      <p:pic>
        <p:nvPicPr>
          <p:cNvPr id="9" name="Image 1" descr="Trust"/>
          <p:cNvPicPr>
            <a:picLocks noChangeAspect="1"/>
          </p:cNvPicPr>
          <p:nvPr/>
        </p:nvPicPr>
        <p:blipFill>
          <a:blip r:embed="rId4"/>
          <a:srcRect/>
          <a:stretch/>
        </p:blipFill>
        <p:spPr>
          <a:xfrm>
            <a:off x="6400800" y="1798241"/>
            <a:ext cx="406400" cy="406400"/>
          </a:xfrm>
          <a:prstGeom prst="rect">
            <a:avLst/>
          </a:prstGeom>
        </p:spPr>
      </p:pic>
      <p:sp>
        <p:nvSpPr>
          <p:cNvPr id="10" name="Text 6"/>
          <p:cNvSpPr/>
          <p:nvPr/>
        </p:nvSpPr>
        <p:spPr>
          <a:xfrm>
            <a:off x="6959600" y="1798241"/>
            <a:ext cx="43167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62"/>
                </a:solidFill>
                <a:latin typeface="Arial" pitchFamily="34" charset="0"/>
                <a:ea typeface="Arial" pitchFamily="34" charset="-122"/>
                <a:cs typeface="Arial" pitchFamily="34" charset="-120"/>
              </a:rPr>
              <a:t>B2B2C · BANKS AND CREDIT UNIONS</a:t>
            </a:r>
            <a:endParaRPr lang="en-US" sz="1200" dirty="0"/>
          </a:p>
        </p:txBody>
      </p:sp>
      <p:sp>
        <p:nvSpPr>
          <p:cNvPr id="11" name="Text 7"/>
          <p:cNvSpPr/>
          <p:nvPr/>
        </p:nvSpPr>
        <p:spPr>
          <a:xfrm>
            <a:off x="6959600" y="2075061"/>
            <a:ext cx="4316730"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7F5EF"/>
                </a:solidFill>
                <a:latin typeface="Arial" pitchFamily="34" charset="0"/>
                <a:ea typeface="Arial" pitchFamily="34" charset="-122"/>
                <a:cs typeface="Arial" pitchFamily="34" charset="-120"/>
              </a:rPr>
              <a:t>White-label, $1 per member a month</a:t>
            </a:r>
            <a:endParaRPr lang="en-US" sz="1800" dirty="0"/>
          </a:p>
        </p:txBody>
      </p:sp>
      <p:sp>
        <p:nvSpPr>
          <p:cNvPr id="12" name="Text 8"/>
          <p:cNvSpPr/>
          <p:nvPr/>
        </p:nvSpPr>
        <p:spPr>
          <a:xfrm>
            <a:off x="6959600" y="2687042"/>
            <a:ext cx="431673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B8AA"/>
                </a:solidFill>
                <a:latin typeface="Arial" pitchFamily="34" charset="0"/>
                <a:ea typeface="Arial" pitchFamily="34" charset="-122"/>
                <a:cs typeface="Arial" pitchFamily="34" charset="-120"/>
              </a:rPr>
              <a:t>Banks like FNB offer Brix in their own app: engaged young customers and a trust story.</a:t>
            </a:r>
            <a:endParaRPr lang="en-US" sz="1300" dirty="0"/>
          </a:p>
        </p:txBody>
      </p:sp>
      <p:sp>
        <p:nvSpPr>
          <p:cNvPr id="13" name="Shape 9"/>
          <p:cNvSpPr/>
          <p:nvPr/>
        </p:nvSpPr>
        <p:spPr>
          <a:xfrm>
            <a:off x="815975" y="3928666"/>
            <a:ext cx="5200650" cy="1910159"/>
          </a:xfrm>
          <a:prstGeom prst="roundRect">
            <a:avLst>
              <a:gd name="adj" fmla="val 6482"/>
            </a:avLst>
          </a:prstGeom>
          <a:solidFill>
            <a:srgbClr val="FFFEFA"/>
          </a:solidFill>
          <a:ln w="6350">
            <a:solidFill>
              <a:srgbClr val="E7E4DB"/>
            </a:solidFill>
            <a:prstDash val="solid"/>
          </a:ln>
        </p:spPr>
      </p:sp>
      <p:pic>
        <p:nvPicPr>
          <p:cNvPr id="14" name="Image 2" descr="Code"/>
          <p:cNvPicPr>
            <a:picLocks noChangeAspect="1"/>
          </p:cNvPicPr>
          <p:nvPr/>
        </p:nvPicPr>
        <p:blipFill>
          <a:blip r:embed="rId5"/>
          <a:srcRect/>
          <a:stretch/>
        </p:blipFill>
        <p:spPr>
          <a:xfrm>
            <a:off x="1047750" y="4135041"/>
            <a:ext cx="406400" cy="406400"/>
          </a:xfrm>
          <a:prstGeom prst="rect">
            <a:avLst/>
          </a:prstGeom>
        </p:spPr>
      </p:pic>
      <p:sp>
        <p:nvSpPr>
          <p:cNvPr id="15" name="Text 10"/>
          <p:cNvSpPr/>
          <p:nvPr/>
        </p:nvSpPr>
        <p:spPr>
          <a:xfrm>
            <a:off x="1606550" y="4135041"/>
            <a:ext cx="43036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B2B · DEVELOPERS</a:t>
            </a:r>
            <a:endParaRPr lang="en-US" sz="1200" dirty="0"/>
          </a:p>
        </p:txBody>
      </p:sp>
      <p:sp>
        <p:nvSpPr>
          <p:cNvPr id="16" name="Text 11"/>
          <p:cNvSpPr/>
          <p:nvPr/>
        </p:nvSpPr>
        <p:spPr>
          <a:xfrm>
            <a:off x="1606550" y="4411861"/>
            <a:ext cx="430364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92920"/>
                </a:solidFill>
                <a:latin typeface="Arial" pitchFamily="34" charset="0"/>
                <a:ea typeface="Arial" pitchFamily="34" charset="-122"/>
                <a:cs typeface="Arial" pitchFamily="34" charset="-120"/>
              </a:rPr>
              <a:t>Public API, usage-based</a:t>
            </a:r>
            <a:endParaRPr lang="en-US" sz="1800" dirty="0"/>
          </a:p>
        </p:txBody>
      </p:sp>
      <p:sp>
        <p:nvSpPr>
          <p:cNvPr id="17" name="Text 12"/>
          <p:cNvSpPr/>
          <p:nvPr/>
        </p:nvSpPr>
        <p:spPr>
          <a:xfrm>
            <a:off x="1606550" y="4749602"/>
            <a:ext cx="430364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93F"/>
                </a:solidFill>
                <a:latin typeface="Arial" pitchFamily="34" charset="0"/>
                <a:ea typeface="Arial" pitchFamily="34" charset="-122"/>
                <a:cs typeface="Arial" pitchFamily="34" charset="-120"/>
              </a:rPr>
              <a:t>Free tier, then paid usage for campus apps, budgeting tools and fintechs.</a:t>
            </a:r>
            <a:endParaRPr lang="en-US" sz="1300" dirty="0"/>
          </a:p>
        </p:txBody>
      </p:sp>
      <p:sp>
        <p:nvSpPr>
          <p:cNvPr id="18" name="Shape 13"/>
          <p:cNvSpPr/>
          <p:nvPr/>
        </p:nvSpPr>
        <p:spPr>
          <a:xfrm>
            <a:off x="6175375" y="3928666"/>
            <a:ext cx="5200650" cy="1910159"/>
          </a:xfrm>
          <a:prstGeom prst="roundRect">
            <a:avLst>
              <a:gd name="adj" fmla="val 6482"/>
            </a:avLst>
          </a:prstGeom>
          <a:solidFill>
            <a:srgbClr val="FFFEFA"/>
          </a:solidFill>
          <a:ln w="6350">
            <a:solidFill>
              <a:srgbClr val="E7E4DB"/>
            </a:solidFill>
            <a:prstDash val="solid"/>
          </a:ln>
        </p:spPr>
      </p:sp>
      <p:pic>
        <p:nvPicPr>
          <p:cNvPr id="19" name="Image 3" descr="Payment card"/>
          <p:cNvPicPr>
            <a:picLocks noChangeAspect="1"/>
          </p:cNvPicPr>
          <p:nvPr/>
        </p:nvPicPr>
        <p:blipFill>
          <a:blip r:embed="rId6"/>
          <a:srcRect/>
          <a:stretch/>
        </p:blipFill>
        <p:spPr>
          <a:xfrm>
            <a:off x="6407150" y="4135041"/>
            <a:ext cx="406400" cy="406400"/>
          </a:xfrm>
          <a:prstGeom prst="rect">
            <a:avLst/>
          </a:prstGeom>
        </p:spPr>
      </p:pic>
      <p:sp>
        <p:nvSpPr>
          <p:cNvPr id="20" name="Text 14"/>
          <p:cNvSpPr/>
          <p:nvPr/>
        </p:nvSpPr>
        <p:spPr>
          <a:xfrm>
            <a:off x="6965950" y="4135041"/>
            <a:ext cx="43036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LATER · CARDS</a:t>
            </a:r>
            <a:endParaRPr lang="en-US" sz="1200" dirty="0"/>
          </a:p>
        </p:txBody>
      </p:sp>
      <p:sp>
        <p:nvSpPr>
          <p:cNvPr id="21" name="Text 15"/>
          <p:cNvSpPr/>
          <p:nvPr/>
        </p:nvSpPr>
        <p:spPr>
          <a:xfrm>
            <a:off x="6965950" y="4411861"/>
            <a:ext cx="430364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92920"/>
                </a:solidFill>
                <a:latin typeface="Arial" pitchFamily="34" charset="0"/>
                <a:ea typeface="Arial" pitchFamily="34" charset="-122"/>
                <a:cs typeface="Arial" pitchFamily="34" charset="-120"/>
              </a:rPr>
              <a:t>Interchange on real cards</a:t>
            </a:r>
            <a:endParaRPr lang="en-US" sz="1800" dirty="0"/>
          </a:p>
        </p:txBody>
      </p:sp>
      <p:sp>
        <p:nvSpPr>
          <p:cNvPr id="22" name="Text 16"/>
          <p:cNvSpPr/>
          <p:nvPr/>
        </p:nvSpPr>
        <p:spPr>
          <a:xfrm>
            <a:off x="6965950" y="4749602"/>
            <a:ext cx="430364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93F"/>
                </a:solidFill>
                <a:latin typeface="Arial" pitchFamily="34" charset="0"/>
                <a:ea typeface="Arial" pitchFamily="34" charset="-122"/>
                <a:cs typeface="Arial" pitchFamily="34" charset="-120"/>
              </a:rPr>
              <a:t>With a sponsor bank, single-use cards earn a share of card fees, after a compliance review.</a:t>
            </a:r>
            <a:endParaRPr lang="en-US" sz="1300" dirty="0"/>
          </a:p>
        </p:txBody>
      </p:sp>
      <p:sp>
        <p:nvSpPr>
          <p:cNvPr id="23"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Prices are planned and will be validated with students and bank partners.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Projections from our planning assumptions (8% paid conversion by year two), not results.</a:t>
            </a:r>
            <a:endParaRPr lang="en-US" sz="1200" dirty="0"/>
          </a:p>
        </p:txBody>
      </p:sp>
      <p:sp>
        <p:nvSpPr>
          <p:cNvPr id="3" name="Text 1"/>
          <p:cNvSpPr>
            <a:spLocks noGrp="1"/>
          </p:cNvSpPr>
          <p:nvPr>
            <p:ph type="title"/>
          </p:nvPr>
        </p:nvSpPr>
        <p:spPr>
          <a:xfrm>
            <a:off x="812800" y="812800"/>
            <a:ext cx="10889933"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The next two years</a:t>
            </a:r>
            <a:endParaRPr lang="en-US" sz="3600" dirty="0"/>
          </a:p>
        </p:txBody>
      </p:sp>
      <p:sp>
        <p:nvSpPr>
          <p:cNvPr id="4" name="Shape 2"/>
          <p:cNvSpPr/>
          <p:nvPr/>
        </p:nvSpPr>
        <p:spPr>
          <a:xfrm>
            <a:off x="825500" y="1568450"/>
            <a:ext cx="0" cy="937121"/>
          </a:xfrm>
          <a:prstGeom prst="line">
            <a:avLst/>
          </a:prstGeom>
          <a:noFill/>
          <a:ln w="25400">
            <a:solidFill>
              <a:srgbClr val="C8462A"/>
            </a:solidFill>
            <a:prstDash val="solid"/>
          </a:ln>
        </p:spPr>
      </p:sp>
      <p:sp>
        <p:nvSpPr>
          <p:cNvPr id="5" name="Text 3"/>
          <p:cNvSpPr/>
          <p:nvPr/>
        </p:nvSpPr>
        <p:spPr>
          <a:xfrm>
            <a:off x="1016000" y="1568450"/>
            <a:ext cx="54743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NOW – SPRING 2027</a:t>
            </a:r>
            <a:endParaRPr lang="en-US" sz="1200" dirty="0"/>
          </a:p>
        </p:txBody>
      </p:sp>
      <p:sp>
        <p:nvSpPr>
          <p:cNvPr id="6" name="Text 4"/>
          <p:cNvSpPr/>
          <p:nvPr/>
        </p:nvSpPr>
        <p:spPr>
          <a:xfrm>
            <a:off x="1016000" y="1819870"/>
            <a:ext cx="547439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First-campus pilot · 1,000 students</a:t>
            </a:r>
            <a:endParaRPr lang="en-US" sz="1600" dirty="0"/>
          </a:p>
        </p:txBody>
      </p:sp>
      <p:sp>
        <p:nvSpPr>
          <p:cNvPr id="7" name="Text 5"/>
          <p:cNvSpPr/>
          <p:nvPr/>
        </p:nvSpPr>
        <p:spPr>
          <a:xfrm>
            <a:off x="1016000" y="2101751"/>
            <a:ext cx="54743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Production bank access, user interviews, security review.</a:t>
            </a:r>
            <a:endParaRPr lang="en-US" sz="1200" dirty="0"/>
          </a:p>
        </p:txBody>
      </p:sp>
      <p:sp>
        <p:nvSpPr>
          <p:cNvPr id="8" name="Shape 6"/>
          <p:cNvSpPr/>
          <p:nvPr/>
        </p:nvSpPr>
        <p:spPr>
          <a:xfrm>
            <a:off x="825500" y="2505571"/>
            <a:ext cx="0" cy="937121"/>
          </a:xfrm>
          <a:prstGeom prst="line">
            <a:avLst/>
          </a:prstGeom>
          <a:noFill/>
          <a:ln w="25400">
            <a:solidFill>
              <a:srgbClr val="F08A62"/>
            </a:solidFill>
            <a:prstDash val="solid"/>
          </a:ln>
        </p:spPr>
      </p:sp>
      <p:sp>
        <p:nvSpPr>
          <p:cNvPr id="9" name="Text 7"/>
          <p:cNvSpPr/>
          <p:nvPr/>
        </p:nvSpPr>
        <p:spPr>
          <a:xfrm>
            <a:off x="1016000" y="2505571"/>
            <a:ext cx="54743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LATE 2027</a:t>
            </a:r>
            <a:endParaRPr lang="en-US" sz="1200" dirty="0"/>
          </a:p>
        </p:txBody>
      </p:sp>
      <p:sp>
        <p:nvSpPr>
          <p:cNvPr id="10" name="Text 8"/>
          <p:cNvSpPr/>
          <p:nvPr/>
        </p:nvSpPr>
        <p:spPr>
          <a:xfrm>
            <a:off x="1016000" y="2756991"/>
            <a:ext cx="547439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10 campuses · 10,000 students</a:t>
            </a:r>
            <a:endParaRPr lang="en-US" sz="1600" dirty="0"/>
          </a:p>
        </p:txBody>
      </p:sp>
      <p:sp>
        <p:nvSpPr>
          <p:cNvPr id="11" name="Text 9"/>
          <p:cNvSpPr/>
          <p:nvPr/>
        </p:nvSpPr>
        <p:spPr>
          <a:xfrm>
            <a:off x="1016000" y="3038872"/>
            <a:ext cx="54743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Brix Plus launches; first credit-union pilot.</a:t>
            </a:r>
            <a:endParaRPr lang="en-US" sz="1200" dirty="0"/>
          </a:p>
        </p:txBody>
      </p:sp>
      <p:sp>
        <p:nvSpPr>
          <p:cNvPr id="12" name="Shape 10"/>
          <p:cNvSpPr/>
          <p:nvPr/>
        </p:nvSpPr>
        <p:spPr>
          <a:xfrm>
            <a:off x="825500" y="3442692"/>
            <a:ext cx="0" cy="746621"/>
          </a:xfrm>
          <a:prstGeom prst="line">
            <a:avLst/>
          </a:prstGeom>
          <a:noFill/>
          <a:ln w="25400">
            <a:solidFill>
              <a:srgbClr val="292920"/>
            </a:solidFill>
            <a:prstDash val="solid"/>
          </a:ln>
        </p:spPr>
      </p:sp>
      <p:sp>
        <p:nvSpPr>
          <p:cNvPr id="13" name="Text 11"/>
          <p:cNvSpPr/>
          <p:nvPr/>
        </p:nvSpPr>
        <p:spPr>
          <a:xfrm>
            <a:off x="1016000" y="3442692"/>
            <a:ext cx="54743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2028</a:t>
            </a:r>
            <a:endParaRPr lang="en-US" sz="1200" dirty="0"/>
          </a:p>
        </p:txBody>
      </p:sp>
      <p:sp>
        <p:nvSpPr>
          <p:cNvPr id="14" name="Text 12"/>
          <p:cNvSpPr/>
          <p:nvPr/>
        </p:nvSpPr>
        <p:spPr>
          <a:xfrm>
            <a:off x="1016000" y="3694113"/>
            <a:ext cx="547439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25 campuses · 50,000 students</a:t>
            </a:r>
            <a:endParaRPr lang="en-US" sz="1600" dirty="0"/>
          </a:p>
        </p:txBody>
      </p:sp>
      <p:sp>
        <p:nvSpPr>
          <p:cNvPr id="15" name="Text 13"/>
          <p:cNvSpPr/>
          <p:nvPr/>
        </p:nvSpPr>
        <p:spPr>
          <a:xfrm>
            <a:off x="1016000" y="3975993"/>
            <a:ext cx="54743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Two bank partners, paying API customers, real cards with a sponsor bank.</a:t>
            </a:r>
            <a:endParaRPr lang="en-US" sz="1200" dirty="0"/>
          </a:p>
        </p:txBody>
      </p:sp>
      <p:sp>
        <p:nvSpPr>
          <p:cNvPr id="16" name="Shape 14"/>
          <p:cNvSpPr/>
          <p:nvPr/>
        </p:nvSpPr>
        <p:spPr>
          <a:xfrm>
            <a:off x="6689725" y="1571625"/>
            <a:ext cx="4692650" cy="4267200"/>
          </a:xfrm>
          <a:prstGeom prst="roundRect">
            <a:avLst>
              <a:gd name="adj" fmla="val 2902"/>
            </a:avLst>
          </a:prstGeom>
          <a:solidFill>
            <a:srgbClr val="FFFEFA"/>
          </a:solidFill>
          <a:ln w="6350">
            <a:solidFill>
              <a:srgbClr val="E7E4DB"/>
            </a:solidFill>
            <a:prstDash val="solid"/>
          </a:ln>
        </p:spPr>
      </p:sp>
      <p:sp>
        <p:nvSpPr>
          <p:cNvPr id="17" name="Text 15"/>
          <p:cNvSpPr/>
          <p:nvPr/>
        </p:nvSpPr>
        <p:spPr>
          <a:xfrm>
            <a:off x="6921500" y="1803400"/>
            <a:ext cx="43559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Projected revenue</a:t>
            </a:r>
            <a:endParaRPr lang="en-US" sz="1600" dirty="0"/>
          </a:p>
        </p:txBody>
      </p:sp>
      <p:pic>
        <p:nvPicPr>
          <p:cNvPr id="18" name="Image 0" descr="Projected revenue: $60K in year one and $720K in year two, drawn as coin stacks"/>
          <p:cNvPicPr>
            <a:picLocks noChangeAspect="1"/>
          </p:cNvPicPr>
          <p:nvPr/>
        </p:nvPicPr>
        <p:blipFill>
          <a:blip r:embed="rId3"/>
          <a:srcRect/>
          <a:stretch/>
        </p:blipFill>
        <p:spPr>
          <a:xfrm>
            <a:off x="6921500" y="2161480"/>
            <a:ext cx="4241800" cy="2095500"/>
          </a:xfrm>
          <a:prstGeom prst="rect">
            <a:avLst/>
          </a:prstGeom>
        </p:spPr>
      </p:pic>
      <p:sp>
        <p:nvSpPr>
          <p:cNvPr id="19" name="Text 16"/>
          <p:cNvSpPr/>
          <p:nvPr/>
        </p:nvSpPr>
        <p:spPr>
          <a:xfrm>
            <a:off x="6889782" y="4371280"/>
            <a:ext cx="2177987" cy="487561"/>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292920"/>
                </a:solidFill>
                <a:latin typeface="Arial" pitchFamily="34" charset="0"/>
                <a:ea typeface="Arial" pitchFamily="34" charset="-122"/>
                <a:cs typeface="Arial" pitchFamily="34" charset="-120"/>
              </a:rPr>
              <a:t>Year 1</a:t>
            </a:r>
            <a:endParaRPr lang="en-US" sz="1400" dirty="0"/>
          </a:p>
          <a:p>
            <a:pPr marL="0" indent="0" algn="ctr">
              <a:lnSpc>
                <a:spcPts val="1820"/>
              </a:lnSpc>
              <a:buNone/>
            </a:pPr>
            <a:r>
              <a:rPr lang="en-US" sz="1400" b="1" dirty="0">
                <a:solidFill>
                  <a:srgbClr val="292920"/>
                </a:solidFill>
                <a:latin typeface="Arial" pitchFamily="34" charset="0"/>
                <a:ea typeface="Arial" pitchFamily="34" charset="-122"/>
                <a:cs typeface="Arial" pitchFamily="34" charset="-120"/>
              </a:rPr>
              <a:t>$60K</a:t>
            </a:r>
            <a:endParaRPr lang="en-US" sz="1400" dirty="0"/>
          </a:p>
        </p:txBody>
      </p:sp>
      <p:sp>
        <p:nvSpPr>
          <p:cNvPr id="20" name="Text 17"/>
          <p:cNvSpPr/>
          <p:nvPr/>
        </p:nvSpPr>
        <p:spPr>
          <a:xfrm>
            <a:off x="9004332" y="4371280"/>
            <a:ext cx="2177987" cy="487561"/>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292920"/>
                </a:solidFill>
                <a:latin typeface="Arial" pitchFamily="34" charset="0"/>
                <a:ea typeface="Arial" pitchFamily="34" charset="-122"/>
                <a:cs typeface="Arial" pitchFamily="34" charset="-120"/>
              </a:rPr>
              <a:t>Year 2</a:t>
            </a:r>
            <a:endParaRPr lang="en-US" sz="1400" dirty="0"/>
          </a:p>
          <a:p>
            <a:pPr marL="0" indent="0" algn="ctr">
              <a:lnSpc>
                <a:spcPts val="1820"/>
              </a:lnSpc>
              <a:buNone/>
            </a:pPr>
            <a:r>
              <a:rPr lang="en-US" sz="1400" b="1" dirty="0">
                <a:solidFill>
                  <a:srgbClr val="292920"/>
                </a:solidFill>
                <a:latin typeface="Arial" pitchFamily="34" charset="0"/>
                <a:ea typeface="Arial" pitchFamily="34" charset="-122"/>
                <a:cs typeface="Arial" pitchFamily="34" charset="-120"/>
              </a:rPr>
              <a:t>$720K</a:t>
            </a:r>
            <a:endParaRPr lang="en-US" sz="1400" dirty="0"/>
          </a:p>
        </p:txBody>
      </p:sp>
      <p:sp>
        <p:nvSpPr>
          <p:cNvPr id="21" name="Text 18"/>
          <p:cNvSpPr/>
          <p:nvPr/>
        </p:nvSpPr>
        <p:spPr>
          <a:xfrm>
            <a:off x="6921500" y="4947741"/>
            <a:ext cx="51604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Year 2: 4,000 Plus × $48 + 2 banks × 20,000 members × $12 + API.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pic>
        <p:nvPicPr>
          <p:cNvPr id="2" name="Image 0" descr="Stacked banknotes"/>
          <p:cNvPicPr>
            <a:picLocks noChangeAspect="1"/>
          </p:cNvPicPr>
          <p:nvPr/>
        </p:nvPicPr>
        <p:blipFill>
          <a:blip r:embed="rId3"/>
          <a:srcRect t="-1097" b="-1097"/>
          <a:stretch/>
        </p:blipFill>
        <p:spPr>
          <a:xfrm>
            <a:off x="812800" y="1010841"/>
            <a:ext cx="929680" cy="609600"/>
          </a:xfrm>
          <a:prstGeom prst="rect">
            <a:avLst/>
          </a:prstGeom>
        </p:spPr>
      </p:pic>
      <p:sp>
        <p:nvSpPr>
          <p:cNvPr id="3" name="Text 0"/>
          <p:cNvSpPr>
            <a:spLocks noGrp="1"/>
          </p:cNvSpPr>
          <p:nvPr>
            <p:ph type="title"/>
          </p:nvPr>
        </p:nvSpPr>
        <p:spPr>
          <a:xfrm>
            <a:off x="1920280" y="812800"/>
            <a:ext cx="9742688" cy="103108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Whatever we win, every dollar has a job</a:t>
            </a:r>
            <a:endParaRPr lang="en-US" sz="3600" dirty="0"/>
          </a:p>
        </p:txBody>
      </p:sp>
      <p:pic>
        <p:nvPicPr>
          <p:cNvPr id="4" name="Image 1" descr="Use of prize money: 35% product and security, 25% compliance and bank partnerships, 25% campus growth, 15% infrastructure and AI"/>
          <p:cNvPicPr>
            <a:picLocks noChangeAspect="1"/>
          </p:cNvPicPr>
          <p:nvPr/>
        </p:nvPicPr>
        <p:blipFill>
          <a:blip r:embed="rId4"/>
          <a:srcRect/>
          <a:stretch/>
        </p:blipFill>
        <p:spPr>
          <a:xfrm>
            <a:off x="812800" y="2369741"/>
            <a:ext cx="3175000" cy="3175000"/>
          </a:xfrm>
          <a:prstGeom prst="rect">
            <a:avLst/>
          </a:prstGeom>
        </p:spPr>
      </p:pic>
      <p:sp>
        <p:nvSpPr>
          <p:cNvPr id="5" name="Text 1"/>
          <p:cNvSpPr/>
          <p:nvPr/>
        </p:nvSpPr>
        <p:spPr>
          <a:xfrm>
            <a:off x="1419225" y="3614341"/>
            <a:ext cx="1962150" cy="838200"/>
          </a:xfrm>
          <a:prstGeom prst="rect">
            <a:avLst/>
          </a:prstGeom>
          <a:noFill/>
          <a:ln/>
        </p:spPr>
        <p:txBody>
          <a:bodyPr wrap="square" lIns="0" tIns="0" rIns="0" bIns="0" rtlCol="0" anchor="t">
            <a:normAutofit/>
          </a:bodyPr>
          <a:lstStyle/>
          <a:p>
            <a:pPr marL="0" indent="0" algn="ctr">
              <a:lnSpc>
                <a:spcPts val="3200"/>
              </a:lnSpc>
              <a:buNone/>
            </a:pPr>
            <a:r>
              <a:rPr lang="en-US" sz="3200" b="1" dirty="0">
                <a:solidFill>
                  <a:srgbClr val="292920"/>
                </a:solidFill>
                <a:latin typeface="Arial" pitchFamily="34" charset="0"/>
                <a:ea typeface="Arial" pitchFamily="34" charset="-122"/>
                <a:cs typeface="Arial" pitchFamily="34" charset="-120"/>
              </a:rPr>
              <a:t>Every $1</a:t>
            </a:r>
            <a:endParaRPr lang="en-US" sz="3200" dirty="0"/>
          </a:p>
        </p:txBody>
      </p:sp>
      <p:sp>
        <p:nvSpPr>
          <p:cNvPr id="6" name="Text 2"/>
          <p:cNvSpPr/>
          <p:nvPr/>
        </p:nvSpPr>
        <p:spPr>
          <a:xfrm>
            <a:off x="1419225" y="4122341"/>
            <a:ext cx="19621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93F"/>
                </a:solidFill>
                <a:latin typeface="Arial" pitchFamily="34" charset="0"/>
                <a:ea typeface="Arial" pitchFamily="34" charset="-122"/>
                <a:cs typeface="Arial" pitchFamily="34" charset="-120"/>
              </a:rPr>
              <a:t>we win, split like this</a:t>
            </a:r>
            <a:endParaRPr lang="en-US" sz="1200" dirty="0"/>
          </a:p>
        </p:txBody>
      </p:sp>
      <p:sp>
        <p:nvSpPr>
          <p:cNvPr id="7" name="Shape 3"/>
          <p:cNvSpPr/>
          <p:nvPr/>
        </p:nvSpPr>
        <p:spPr>
          <a:xfrm>
            <a:off x="4445000" y="2744589"/>
            <a:ext cx="177800" cy="177800"/>
          </a:xfrm>
          <a:prstGeom prst="roundRect">
            <a:avLst>
              <a:gd name="adj" fmla="val 21429"/>
            </a:avLst>
          </a:prstGeom>
          <a:solidFill>
            <a:srgbClr val="C8462A"/>
          </a:solidFill>
          <a:ln/>
        </p:spPr>
      </p:sp>
      <p:sp>
        <p:nvSpPr>
          <p:cNvPr id="8" name="Text 4"/>
          <p:cNvSpPr/>
          <p:nvPr/>
        </p:nvSpPr>
        <p:spPr>
          <a:xfrm>
            <a:off x="4749800" y="2744589"/>
            <a:ext cx="68282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35% · Product and security</a:t>
            </a:r>
            <a:endParaRPr lang="en-US" sz="1600" dirty="0"/>
          </a:p>
        </p:txBody>
      </p:sp>
      <p:sp>
        <p:nvSpPr>
          <p:cNvPr id="9" name="Text 5"/>
          <p:cNvSpPr/>
          <p:nvPr/>
        </p:nvSpPr>
        <p:spPr>
          <a:xfrm>
            <a:off x="4749800" y="3013770"/>
            <a:ext cx="6828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Production bank data and a security review.</a:t>
            </a:r>
            <a:endParaRPr lang="en-US" sz="1200" dirty="0"/>
          </a:p>
        </p:txBody>
      </p:sp>
      <p:sp>
        <p:nvSpPr>
          <p:cNvPr id="10" name="Shape 6"/>
          <p:cNvSpPr/>
          <p:nvPr/>
        </p:nvSpPr>
        <p:spPr>
          <a:xfrm>
            <a:off x="4445000" y="3392190"/>
            <a:ext cx="177800" cy="177800"/>
          </a:xfrm>
          <a:prstGeom prst="roundRect">
            <a:avLst>
              <a:gd name="adj" fmla="val 21429"/>
            </a:avLst>
          </a:prstGeom>
          <a:solidFill>
            <a:srgbClr val="292920"/>
          </a:solidFill>
          <a:ln/>
        </p:spPr>
      </p:sp>
      <p:sp>
        <p:nvSpPr>
          <p:cNvPr id="11" name="Text 7"/>
          <p:cNvSpPr/>
          <p:nvPr/>
        </p:nvSpPr>
        <p:spPr>
          <a:xfrm>
            <a:off x="4749800" y="3392190"/>
            <a:ext cx="68282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25% · Compliance and bank partners</a:t>
            </a:r>
            <a:endParaRPr lang="en-US" sz="1600" dirty="0"/>
          </a:p>
        </p:txBody>
      </p:sp>
      <p:sp>
        <p:nvSpPr>
          <p:cNvPr id="12" name="Text 8"/>
          <p:cNvSpPr/>
          <p:nvPr/>
        </p:nvSpPr>
        <p:spPr>
          <a:xfrm>
            <a:off x="4749800" y="3661370"/>
            <a:ext cx="6828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Legal review and a pilot with a bank like FNB.</a:t>
            </a:r>
            <a:endParaRPr lang="en-US" sz="1200" dirty="0"/>
          </a:p>
        </p:txBody>
      </p:sp>
      <p:sp>
        <p:nvSpPr>
          <p:cNvPr id="13" name="Shape 9"/>
          <p:cNvSpPr/>
          <p:nvPr/>
        </p:nvSpPr>
        <p:spPr>
          <a:xfrm>
            <a:off x="4445000" y="4039791"/>
            <a:ext cx="177800" cy="177800"/>
          </a:xfrm>
          <a:prstGeom prst="roundRect">
            <a:avLst>
              <a:gd name="adj" fmla="val 21429"/>
            </a:avLst>
          </a:prstGeom>
          <a:solidFill>
            <a:srgbClr val="F08A62"/>
          </a:solidFill>
          <a:ln/>
        </p:spPr>
      </p:sp>
      <p:sp>
        <p:nvSpPr>
          <p:cNvPr id="14" name="Text 10"/>
          <p:cNvSpPr/>
          <p:nvPr/>
        </p:nvSpPr>
        <p:spPr>
          <a:xfrm>
            <a:off x="4749800" y="4039791"/>
            <a:ext cx="68282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25% · Campus growth</a:t>
            </a:r>
            <a:endParaRPr lang="en-US" sz="1600" dirty="0"/>
          </a:p>
        </p:txBody>
      </p:sp>
      <p:sp>
        <p:nvSpPr>
          <p:cNvPr id="15" name="Text 11"/>
          <p:cNvSpPr/>
          <p:nvPr/>
        </p:nvSpPr>
        <p:spPr>
          <a:xfrm>
            <a:off x="4749800" y="4308971"/>
            <a:ext cx="6828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A first-campus launch with student ambassadors.</a:t>
            </a:r>
            <a:endParaRPr lang="en-US" sz="1200" dirty="0"/>
          </a:p>
        </p:txBody>
      </p:sp>
      <p:sp>
        <p:nvSpPr>
          <p:cNvPr id="16" name="Shape 12"/>
          <p:cNvSpPr/>
          <p:nvPr/>
        </p:nvSpPr>
        <p:spPr>
          <a:xfrm>
            <a:off x="4445000" y="4687391"/>
            <a:ext cx="177800" cy="177800"/>
          </a:xfrm>
          <a:prstGeom prst="roundRect">
            <a:avLst>
              <a:gd name="adj" fmla="val 21429"/>
            </a:avLst>
          </a:prstGeom>
          <a:solidFill>
            <a:srgbClr val="8C8A7E"/>
          </a:solidFill>
          <a:ln/>
        </p:spPr>
      </p:sp>
      <p:sp>
        <p:nvSpPr>
          <p:cNvPr id="17" name="Text 13"/>
          <p:cNvSpPr/>
          <p:nvPr/>
        </p:nvSpPr>
        <p:spPr>
          <a:xfrm>
            <a:off x="4749800" y="4687391"/>
            <a:ext cx="68282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92920"/>
                </a:solidFill>
                <a:latin typeface="Arial" pitchFamily="34" charset="0"/>
                <a:ea typeface="Arial" pitchFamily="34" charset="-122"/>
                <a:cs typeface="Arial" pitchFamily="34" charset="-120"/>
              </a:rPr>
              <a:t>15% · Infrastructure and AI</a:t>
            </a:r>
            <a:endParaRPr lang="en-US" sz="1600" dirty="0"/>
          </a:p>
        </p:txBody>
      </p:sp>
      <p:sp>
        <p:nvSpPr>
          <p:cNvPr id="18" name="Text 14"/>
          <p:cNvSpPr/>
          <p:nvPr/>
        </p:nvSpPr>
        <p:spPr>
          <a:xfrm>
            <a:off x="4749800" y="4956572"/>
            <a:ext cx="6828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93F"/>
                </a:solidFill>
                <a:latin typeface="Arial" pitchFamily="34" charset="0"/>
                <a:ea typeface="Arial" pitchFamily="34" charset="-122"/>
                <a:cs typeface="Arial" pitchFamily="34" charset="-120"/>
              </a:rPr>
              <a:t>Hosting, model usage, voice and messaging.</a:t>
            </a:r>
            <a:endParaRPr lang="en-US" sz="12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For example, $1,000 becomes $350 for product, $250 for compliance, $250 for growth and $150 for infrastructure.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292920"/>
                </a:solidFill>
                <a:latin typeface="Arial" pitchFamily="34" charset="0"/>
                <a:ea typeface="Arial" pitchFamily="34" charset="-122"/>
                <a:cs typeface="Arial" pitchFamily="34" charset="-120"/>
              </a:rPr>
              <a:t>What 50,000 students could keep each year</a:t>
            </a:r>
            <a:endParaRPr lang="en-US" sz="3600" dirty="0"/>
          </a:p>
        </p:txBody>
      </p:sp>
      <p:sp>
        <p:nvSpPr>
          <p:cNvPr id="3" name="Shape 1"/>
          <p:cNvSpPr/>
          <p:nvPr/>
        </p:nvSpPr>
        <p:spPr>
          <a:xfrm>
            <a:off x="815975" y="2101056"/>
            <a:ext cx="3418384" cy="2726928"/>
          </a:xfrm>
          <a:prstGeom prst="roundRect">
            <a:avLst>
              <a:gd name="adj" fmla="val 4541"/>
            </a:avLst>
          </a:prstGeom>
          <a:solidFill>
            <a:srgbClr val="FFFEFA"/>
          </a:solidFill>
          <a:ln w="6350">
            <a:solidFill>
              <a:srgbClr val="E7E4DB"/>
            </a:solidFill>
            <a:prstDash val="solid"/>
          </a:ln>
        </p:spPr>
      </p:sp>
      <p:pic>
        <p:nvPicPr>
          <p:cNvPr id="4" name="Image 0" descr="Coins"/>
          <p:cNvPicPr>
            <a:picLocks noChangeAspect="1"/>
          </p:cNvPicPr>
          <p:nvPr/>
        </p:nvPicPr>
        <p:blipFill>
          <a:blip r:embed="rId3"/>
          <a:srcRect/>
          <a:stretch/>
        </p:blipFill>
        <p:spPr>
          <a:xfrm>
            <a:off x="1047750" y="2332831"/>
            <a:ext cx="762000" cy="533400"/>
          </a:xfrm>
          <a:prstGeom prst="rect">
            <a:avLst/>
          </a:prstGeom>
        </p:spPr>
      </p:pic>
      <p:sp>
        <p:nvSpPr>
          <p:cNvPr id="5" name="Text 2"/>
          <p:cNvSpPr/>
          <p:nvPr/>
        </p:nvSpPr>
        <p:spPr>
          <a:xfrm>
            <a:off x="1047750" y="2967831"/>
            <a:ext cx="30434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FORGOTTEN TRIALS</a:t>
            </a:r>
            <a:endParaRPr lang="en-US" sz="1200" dirty="0"/>
          </a:p>
        </p:txBody>
      </p:sp>
      <p:sp>
        <p:nvSpPr>
          <p:cNvPr id="6" name="Text 3"/>
          <p:cNvSpPr/>
          <p:nvPr/>
        </p:nvSpPr>
        <p:spPr>
          <a:xfrm>
            <a:off x="1047750" y="3282752"/>
            <a:ext cx="304347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292920"/>
                </a:solidFill>
                <a:latin typeface="Arial" pitchFamily="34" charset="0"/>
                <a:ea typeface="Arial" pitchFamily="34" charset="-122"/>
                <a:cs typeface="Arial" pitchFamily="34" charset="-120"/>
              </a:rPr>
              <a:t>$1.2M</a:t>
            </a:r>
            <a:endParaRPr lang="en-US" sz="4800" dirty="0"/>
          </a:p>
        </p:txBody>
      </p:sp>
      <p:sp>
        <p:nvSpPr>
          <p:cNvPr id="7" name="Text 4"/>
          <p:cNvSpPr/>
          <p:nvPr/>
        </p:nvSpPr>
        <p:spPr>
          <a:xfrm>
            <a:off x="1047750" y="3993952"/>
            <a:ext cx="304347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93F"/>
                </a:solidFill>
                <a:latin typeface="Arial" pitchFamily="34" charset="0"/>
                <a:ea typeface="Arial" pitchFamily="34" charset="-122"/>
                <a:cs typeface="Arial" pitchFamily="34" charset="-120"/>
              </a:rPr>
              <a:t>if each student skips one $12 charge they didn’t choose, each semester.</a:t>
            </a:r>
            <a:endParaRPr lang="en-US" sz="1300" dirty="0"/>
          </a:p>
        </p:txBody>
      </p:sp>
      <p:sp>
        <p:nvSpPr>
          <p:cNvPr id="8" name="Shape 5"/>
          <p:cNvSpPr/>
          <p:nvPr/>
        </p:nvSpPr>
        <p:spPr>
          <a:xfrm>
            <a:off x="4389934" y="2097881"/>
            <a:ext cx="3412133" cy="2733278"/>
          </a:xfrm>
          <a:prstGeom prst="roundRect">
            <a:avLst>
              <a:gd name="adj" fmla="val 4646"/>
            </a:avLst>
          </a:prstGeom>
          <a:solidFill>
            <a:srgbClr val="292920"/>
          </a:solidFill>
          <a:ln/>
        </p:spPr>
      </p:sp>
      <p:pic>
        <p:nvPicPr>
          <p:cNvPr id="9" name="Image 1" descr="Banknote"/>
          <p:cNvPicPr>
            <a:picLocks noChangeAspect="1"/>
          </p:cNvPicPr>
          <p:nvPr/>
        </p:nvPicPr>
        <p:blipFill>
          <a:blip r:embed="rId4"/>
          <a:srcRect/>
          <a:stretch/>
        </p:blipFill>
        <p:spPr>
          <a:xfrm>
            <a:off x="4618534" y="2326481"/>
            <a:ext cx="889000" cy="533400"/>
          </a:xfrm>
          <a:prstGeom prst="rect">
            <a:avLst/>
          </a:prstGeom>
        </p:spPr>
      </p:pic>
      <p:sp>
        <p:nvSpPr>
          <p:cNvPr id="10" name="Text 6"/>
          <p:cNvSpPr/>
          <p:nvPr/>
        </p:nvSpPr>
        <p:spPr>
          <a:xfrm>
            <a:off x="4618534" y="2961481"/>
            <a:ext cx="30435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62"/>
                </a:solidFill>
                <a:latin typeface="Arial" pitchFamily="34" charset="0"/>
                <a:ea typeface="Arial" pitchFamily="34" charset="-122"/>
                <a:cs typeface="Arial" pitchFamily="34" charset="-120"/>
              </a:rPr>
              <a:t>BORROWED REFUND MONEY</a:t>
            </a:r>
            <a:endParaRPr lang="en-US" sz="1200" dirty="0"/>
          </a:p>
        </p:txBody>
      </p:sp>
      <p:sp>
        <p:nvSpPr>
          <p:cNvPr id="11" name="Text 7"/>
          <p:cNvSpPr/>
          <p:nvPr/>
        </p:nvSpPr>
        <p:spPr>
          <a:xfrm>
            <a:off x="4618534" y="3276402"/>
            <a:ext cx="3043581"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F7F5EF"/>
                </a:solidFill>
                <a:latin typeface="Arial" pitchFamily="34" charset="0"/>
                <a:ea typeface="Arial" pitchFamily="34" charset="-122"/>
                <a:cs typeface="Arial" pitchFamily="34" charset="-120"/>
              </a:rPr>
              <a:t>$1.4M</a:t>
            </a:r>
            <a:endParaRPr lang="en-US" sz="4800" dirty="0"/>
          </a:p>
        </p:txBody>
      </p:sp>
      <p:sp>
        <p:nvSpPr>
          <p:cNvPr id="12" name="Text 8"/>
          <p:cNvSpPr/>
          <p:nvPr/>
        </p:nvSpPr>
        <p:spPr>
          <a:xfrm>
            <a:off x="4618534" y="3987602"/>
            <a:ext cx="304358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B8AA"/>
                </a:solidFill>
                <a:latin typeface="Arial" pitchFamily="34" charset="0"/>
                <a:ea typeface="Arial" pitchFamily="34" charset="-122"/>
                <a:cs typeface="Arial" pitchFamily="34" charset="-120"/>
              </a:rPr>
              <a:t>in interest avoided if 1 in 10 return $1,000 of unused loans.</a:t>
            </a:r>
            <a:endParaRPr lang="en-US" sz="1300" dirty="0"/>
          </a:p>
        </p:txBody>
      </p:sp>
      <p:sp>
        <p:nvSpPr>
          <p:cNvPr id="13" name="Shape 9"/>
          <p:cNvSpPr/>
          <p:nvPr/>
        </p:nvSpPr>
        <p:spPr>
          <a:xfrm>
            <a:off x="7957641" y="2101056"/>
            <a:ext cx="3418384" cy="2726928"/>
          </a:xfrm>
          <a:prstGeom prst="roundRect">
            <a:avLst>
              <a:gd name="adj" fmla="val 4541"/>
            </a:avLst>
          </a:prstGeom>
          <a:solidFill>
            <a:srgbClr val="FFFEFA"/>
          </a:solidFill>
          <a:ln w="6350">
            <a:solidFill>
              <a:srgbClr val="E7E4DB"/>
            </a:solidFill>
            <a:prstDash val="solid"/>
          </a:ln>
        </p:spPr>
      </p:sp>
      <p:pic>
        <p:nvPicPr>
          <p:cNvPr id="14" name="Image 2" descr="Gift card"/>
          <p:cNvPicPr>
            <a:picLocks noChangeAspect="1"/>
          </p:cNvPicPr>
          <p:nvPr/>
        </p:nvPicPr>
        <p:blipFill>
          <a:blip r:embed="rId5"/>
          <a:srcRect/>
          <a:stretch/>
        </p:blipFill>
        <p:spPr>
          <a:xfrm>
            <a:off x="8189416" y="2332831"/>
            <a:ext cx="825500" cy="533400"/>
          </a:xfrm>
          <a:prstGeom prst="rect">
            <a:avLst/>
          </a:prstGeom>
        </p:spPr>
      </p:pic>
      <p:sp>
        <p:nvSpPr>
          <p:cNvPr id="15" name="Text 10"/>
          <p:cNvSpPr/>
          <p:nvPr/>
        </p:nvSpPr>
        <p:spPr>
          <a:xfrm>
            <a:off x="8189416" y="2967831"/>
            <a:ext cx="30434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13C22"/>
                </a:solidFill>
                <a:latin typeface="Arial" pitchFamily="34" charset="0"/>
                <a:ea typeface="Arial" pitchFamily="34" charset="-122"/>
                <a:cs typeface="Arial" pitchFamily="34" charset="-120"/>
              </a:rPr>
              <a:t>GIFT CARDS</a:t>
            </a:r>
            <a:endParaRPr lang="en-US" sz="1200" dirty="0"/>
          </a:p>
        </p:txBody>
      </p:sp>
      <p:sp>
        <p:nvSpPr>
          <p:cNvPr id="16" name="Text 11"/>
          <p:cNvSpPr/>
          <p:nvPr/>
        </p:nvSpPr>
        <p:spPr>
          <a:xfrm>
            <a:off x="8189416" y="3282752"/>
            <a:ext cx="304347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292920"/>
                </a:solidFill>
                <a:latin typeface="Arial" pitchFamily="34" charset="0"/>
                <a:ea typeface="Arial" pitchFamily="34" charset="-122"/>
                <a:cs typeface="Arial" pitchFamily="34" charset="-120"/>
              </a:rPr>
              <a:t>$2.0M</a:t>
            </a:r>
            <a:endParaRPr lang="en-US" sz="4800" dirty="0"/>
          </a:p>
        </p:txBody>
      </p:sp>
      <p:sp>
        <p:nvSpPr>
          <p:cNvPr id="17" name="Text 12"/>
          <p:cNvSpPr/>
          <p:nvPr/>
        </p:nvSpPr>
        <p:spPr>
          <a:xfrm>
            <a:off x="8189416" y="3993952"/>
            <a:ext cx="304347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93F"/>
                </a:solidFill>
                <a:latin typeface="Arial" pitchFamily="34" charset="0"/>
                <a:ea typeface="Arial" pitchFamily="34" charset="-122"/>
                <a:cs typeface="Arial" pitchFamily="34" charset="-120"/>
              </a:rPr>
              <a:t>of balances spent instead of expiring, at $40 a student.</a:t>
            </a:r>
            <a:endParaRPr lang="en-US" sz="1300" dirty="0"/>
          </a:p>
        </p:txBody>
      </p:sp>
      <p:sp>
        <p:nvSpPr>
          <p:cNvPr id="18" name="Text 13"/>
          <p:cNvSpPr/>
          <p:nvPr/>
        </p:nvSpPr>
        <p:spPr>
          <a:xfrm>
            <a:off x="812800" y="5110559"/>
            <a:ext cx="10464800" cy="756841"/>
          </a:xfrm>
          <a:prstGeom prst="rect">
            <a:avLst/>
          </a:prstGeom>
          <a:noFill/>
          <a:ln/>
        </p:spPr>
        <p:txBody>
          <a:bodyPr wrap="square" lIns="0" tIns="0" rIns="0" bIns="0" rtlCol="0" anchor="t">
            <a:normAutofit/>
          </a:bodyPr>
          <a:lstStyle/>
          <a:p>
            <a:pPr marL="0" indent="0" algn="l">
              <a:lnSpc>
                <a:spcPts val="2880"/>
              </a:lnSpc>
              <a:buNone/>
            </a:pPr>
            <a:r>
              <a:rPr lang="en-US" sz="2400" i="1" dirty="0">
                <a:solidFill>
                  <a:srgbClr val="292920"/>
                </a:solidFill>
                <a:latin typeface="Georgia" pitchFamily="18" charset="0"/>
                <a:ea typeface="Georgia" pitchFamily="18" charset="-122"/>
                <a:cs typeface="Georgia" pitchFamily="18" charset="-120"/>
              </a:rPr>
              <a:t>And a generation that practices investing before trusting a stranger online with real money.</a:t>
            </a:r>
            <a:endParaRPr lang="en-US" sz="2400" dirty="0"/>
          </a:p>
        </p:txBody>
      </p:sp>
      <p:sp>
        <p:nvSpPr>
          <p:cNvPr id="19"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0"/>
                </a:solidFill>
                <a:latin typeface="Arial" pitchFamily="34" charset="0"/>
                <a:ea typeface="Arial" pitchFamily="34" charset="-122"/>
                <a:cs typeface="Arial" pitchFamily="34" charset="-120"/>
              </a:rPr>
              <a:t>Estimates from our assumptions, not measured outcomes. Loan interest: $1,000 × (1.065⁴ − 1) ≈ $286 a student over 4 years.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C8462A"/>
        </a:solidFill>
        <a:effectLst/>
      </p:bgPr>
    </p:bg>
    <p:spTree>
      <p:nvGrpSpPr>
        <p:cNvPr id="1" name=""/>
        <p:cNvGrpSpPr/>
        <p:nvPr/>
      </p:nvGrpSpPr>
      <p:grpSpPr>
        <a:xfrm>
          <a:off x="0" y="0"/>
          <a:ext cx="0" cy="0"/>
          <a:chOff x="0" y="0"/>
          <a:chExt cx="0" cy="0"/>
        </a:xfrm>
      </p:grpSpPr>
      <p:pic>
        <p:nvPicPr>
          <p:cNvPr id="2" name="Image 0" descr="Brix mark"/>
          <p:cNvPicPr>
            <a:picLocks noChangeAspect="1"/>
          </p:cNvPicPr>
          <p:nvPr/>
        </p:nvPicPr>
        <p:blipFill>
          <a:blip r:embed="rId3"/>
          <a:srcRect/>
          <a:stretch/>
        </p:blipFill>
        <p:spPr>
          <a:xfrm>
            <a:off x="812800" y="1509613"/>
            <a:ext cx="1016000" cy="933450"/>
          </a:xfrm>
          <a:prstGeom prst="rect">
            <a:avLst/>
          </a:prstGeom>
        </p:spPr>
      </p:pic>
      <p:sp>
        <p:nvSpPr>
          <p:cNvPr id="3" name="Text 0"/>
          <p:cNvSpPr>
            <a:spLocks noGrp="1"/>
          </p:cNvSpPr>
          <p:nvPr>
            <p:ph type="title"/>
          </p:nvPr>
        </p:nvSpPr>
        <p:spPr>
          <a:xfrm>
            <a:off x="1981200" y="1404838"/>
            <a:ext cx="3085505" cy="1168400"/>
          </a:xfrm>
          <a:prstGeom prst="rect">
            <a:avLst/>
          </a:prstGeom>
          <a:noFill/>
          <a:ln/>
        </p:spPr>
        <p:txBody>
          <a:bodyPr wrap="square" lIns="0" tIns="0" rIns="0" bIns="0" rtlCol="0" anchor="t">
            <a:normAutofit/>
          </a:bodyPr>
          <a:lstStyle/>
          <a:p>
            <a:pPr marL="0" indent="0" algn="l">
              <a:lnSpc>
                <a:spcPts val="9000"/>
              </a:lnSpc>
              <a:buNone/>
            </a:pPr>
            <a:r>
              <a:rPr lang="en-US" sz="9000" b="1" i="0" kern="0" spc="-350" dirty="0">
                <a:solidFill>
                  <a:srgbClr val="FBF7F2"/>
                </a:solidFill>
                <a:latin typeface="Arial" pitchFamily="34" charset="0"/>
                <a:ea typeface="Arial" pitchFamily="34" charset="-122"/>
                <a:cs typeface="Arial" pitchFamily="34" charset="-120"/>
              </a:rPr>
              <a:t>br</a:t>
            </a:r>
            <a:r>
              <a:rPr lang="en-US" sz="9000" b="1" i="0" kern="0" spc="-350" dirty="0">
                <a:solidFill>
                  <a:srgbClr val="292920"/>
                </a:solidFill>
                <a:latin typeface="Arial" pitchFamily="34" charset="0"/>
                <a:ea typeface="Arial" pitchFamily="34" charset="-122"/>
                <a:cs typeface="Arial" pitchFamily="34" charset="-120"/>
              </a:rPr>
              <a:t>i</a:t>
            </a:r>
            <a:r>
              <a:rPr lang="en-US" sz="9000" b="1" i="0" kern="0" spc="-350" dirty="0">
                <a:solidFill>
                  <a:srgbClr val="FBF7F2"/>
                </a:solidFill>
                <a:latin typeface="Arial" pitchFamily="34" charset="0"/>
                <a:ea typeface="Arial" pitchFamily="34" charset="-122"/>
                <a:cs typeface="Arial" pitchFamily="34" charset="-120"/>
              </a:rPr>
              <a:t>x</a:t>
            </a:r>
            <a:r>
              <a:rPr lang="en-US" sz="9000" b="1" i="0" kern="0" spc="-350" dirty="0">
                <a:solidFill>
                  <a:srgbClr val="292920"/>
                </a:solidFill>
                <a:latin typeface="Arial" pitchFamily="34" charset="0"/>
                <a:ea typeface="Arial" pitchFamily="34" charset="-122"/>
                <a:cs typeface="Arial" pitchFamily="34" charset="-120"/>
              </a:rPr>
              <a:t>.</a:t>
            </a:r>
            <a:endParaRPr lang="en-US" sz="9000" dirty="0"/>
          </a:p>
        </p:txBody>
      </p:sp>
      <p:sp>
        <p:nvSpPr>
          <p:cNvPr id="4" name="Text 1"/>
          <p:cNvSpPr/>
          <p:nvPr/>
        </p:nvSpPr>
        <p:spPr>
          <a:xfrm>
            <a:off x="812800" y="2751038"/>
            <a:ext cx="5153914" cy="1031081"/>
          </a:xfrm>
          <a:prstGeom prst="rect">
            <a:avLst/>
          </a:prstGeom>
          <a:noFill/>
          <a:ln/>
        </p:spPr>
        <p:txBody>
          <a:bodyPr wrap="square" lIns="0" tIns="0" rIns="0" bIns="0" rtlCol="0" anchor="t">
            <a:normAutofit/>
          </a:bodyPr>
          <a:lstStyle/>
          <a:p>
            <a:pPr marL="0" indent="0" algn="l">
              <a:lnSpc>
                <a:spcPts val="3960"/>
              </a:lnSpc>
              <a:buNone/>
            </a:pPr>
            <a:r>
              <a:rPr lang="en-US" sz="3600" i="1" dirty="0">
                <a:solidFill>
                  <a:srgbClr val="FBF7F2"/>
                </a:solidFill>
                <a:latin typeface="Georgia" pitchFamily="18" charset="0"/>
                <a:ea typeface="Georgia" pitchFamily="18" charset="-122"/>
                <a:cs typeface="Georgia" pitchFamily="18" charset="-120"/>
              </a:rPr>
              <a:t>Your money, brick by brick.</a:t>
            </a:r>
            <a:endParaRPr lang="en-US" sz="3600" dirty="0"/>
          </a:p>
        </p:txBody>
      </p:sp>
      <p:sp>
        <p:nvSpPr>
          <p:cNvPr id="5" name="Text 2"/>
          <p:cNvSpPr/>
          <p:nvPr/>
        </p:nvSpPr>
        <p:spPr>
          <a:xfrm>
            <a:off x="812800" y="3959920"/>
            <a:ext cx="5153914"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FBF7F2"/>
                </a:solidFill>
                <a:latin typeface="Arial" pitchFamily="34" charset="0"/>
                <a:ea typeface="Arial" pitchFamily="34" charset="-122"/>
                <a:cs typeface="Arial" pitchFamily="34" charset="-120"/>
              </a:rPr>
              <a:t>Try it at </a:t>
            </a:r>
            <a:r>
              <a:rPr lang="en-US" sz="1600" b="1" dirty="0">
                <a:solidFill>
                  <a:srgbClr val="FBF7F2"/>
                </a:solidFill>
                <a:latin typeface="Arial" pitchFamily="34" charset="0"/>
                <a:ea typeface="Arial" pitchFamily="34" charset="-122"/>
                <a:cs typeface="Arial" pitchFamily="34" charset="-120"/>
              </a:rPr>
              <a:t>www.usebrix.app</a:t>
            </a:r>
            <a:endParaRPr lang="en-US" sz="1600" dirty="0"/>
          </a:p>
          <a:p>
            <a:pPr marL="0" indent="0" algn="l">
              <a:lnSpc>
                <a:spcPts val="2320"/>
              </a:lnSpc>
              <a:buNone/>
            </a:pPr>
            <a:r>
              <a:rPr lang="en-US" sz="1600" dirty="0">
                <a:solidFill>
                  <a:srgbClr val="FBF7F2"/>
                </a:solidFill>
                <a:latin typeface="Arial" pitchFamily="34" charset="0"/>
                <a:ea typeface="Arial" pitchFamily="34" charset="-122"/>
                <a:cs typeface="Arial" pitchFamily="34" charset="-120"/>
              </a:rPr>
              <a:t>or call </a:t>
            </a:r>
            <a:r>
              <a:rPr lang="en-US" sz="1600" b="1" dirty="0">
                <a:solidFill>
                  <a:srgbClr val="FBF7F2"/>
                </a:solidFill>
                <a:latin typeface="Arial" pitchFamily="34" charset="0"/>
                <a:ea typeface="Arial" pitchFamily="34" charset="-122"/>
                <a:cs typeface="Arial" pitchFamily="34" charset="-120"/>
              </a:rPr>
              <a:t>+1 (870) 395-8999</a:t>
            </a:r>
            <a:endParaRPr lang="en-US" sz="1600" dirty="0"/>
          </a:p>
        </p:txBody>
      </p:sp>
      <p:sp>
        <p:nvSpPr>
          <p:cNvPr id="6" name="Text 3"/>
          <p:cNvSpPr/>
          <p:nvPr/>
        </p:nvSpPr>
        <p:spPr>
          <a:xfrm>
            <a:off x="812800" y="4752280"/>
            <a:ext cx="515391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F7F2"/>
                </a:solidFill>
                <a:latin typeface="Arial" pitchFamily="34" charset="0"/>
                <a:ea typeface="Arial" pitchFamily="34" charset="-122"/>
                <a:cs typeface="Arial" pitchFamily="34" charset="-120"/>
              </a:rPr>
              <a:t>Let’s build something together. We welcome conversations about partnership, pilots and investment.</a:t>
            </a:r>
            <a:endParaRPr lang="en-US" sz="1400" dirty="0"/>
          </a:p>
        </p:txBody>
      </p:sp>
      <p:pic>
        <p:nvPicPr>
          <p:cNvPr id="7" name="Image 1" descr="The Brix mark in white with orange eyes"/>
          <p:cNvPicPr>
            <a:picLocks noChangeAspect="1"/>
          </p:cNvPicPr>
          <p:nvPr/>
        </p:nvPicPr>
        <p:blipFill>
          <a:blip r:embed="rId4"/>
          <a:srcRect/>
          <a:stretch/>
        </p:blipFill>
        <p:spPr>
          <a:xfrm>
            <a:off x="6172200" y="2336800"/>
            <a:ext cx="2159000" cy="1981200"/>
          </a:xfrm>
          <a:prstGeom prst="rect">
            <a:avLst/>
          </a:prstGeom>
        </p:spPr>
      </p:pic>
      <p:sp>
        <p:nvSpPr>
          <p:cNvPr id="8" name="Shape 4"/>
          <p:cNvSpPr/>
          <p:nvPr/>
        </p:nvSpPr>
        <p:spPr>
          <a:xfrm>
            <a:off x="8686800" y="1799630"/>
            <a:ext cx="2692400" cy="3055541"/>
          </a:xfrm>
          <a:prstGeom prst="roundRect">
            <a:avLst>
              <a:gd name="adj" fmla="val 6604"/>
            </a:avLst>
          </a:prstGeom>
          <a:solidFill>
            <a:srgbClr val="FBF7F2"/>
          </a:solidFill>
          <a:ln/>
          <a:effectLst>
            <a:outerShdw blurRad="508000" dist="190500" dir="5400000" algn="bl" rotWithShape="0">
              <a:srgbClr val="292920">
                <a:alpha val="25000"/>
              </a:srgbClr>
            </a:outerShdw>
          </a:effectLst>
        </p:spPr>
      </p:sp>
      <p:pic>
        <p:nvPicPr>
          <p:cNvPr id="9" name="Image 2" descr="QR code linking to www.usebrix.app"/>
          <p:cNvPicPr>
            <a:picLocks noChangeAspect="1"/>
          </p:cNvPicPr>
          <p:nvPr/>
        </p:nvPicPr>
        <p:blipFill>
          <a:blip r:embed="rId5"/>
          <a:srcRect/>
          <a:stretch/>
        </p:blipFill>
        <p:spPr>
          <a:xfrm>
            <a:off x="8890000" y="2002830"/>
            <a:ext cx="2286000" cy="2286000"/>
          </a:xfrm>
          <a:prstGeom prst="rect">
            <a:avLst/>
          </a:prstGeom>
        </p:spPr>
      </p:pic>
      <p:sp>
        <p:nvSpPr>
          <p:cNvPr id="10" name="Text 5"/>
          <p:cNvSpPr/>
          <p:nvPr/>
        </p:nvSpPr>
        <p:spPr>
          <a:xfrm>
            <a:off x="9244459" y="4403130"/>
            <a:ext cx="1576983"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292920"/>
                </a:solidFill>
                <a:latin typeface="Arial" pitchFamily="34" charset="0"/>
                <a:ea typeface="Arial" pitchFamily="34" charset="-122"/>
                <a:cs typeface="Arial" pitchFamily="34" charset="-120"/>
              </a:rPr>
              <a:t>Scan to try Brix</a:t>
            </a:r>
            <a:endParaRPr lang="en-US" sz="1400" dirty="0"/>
          </a:p>
        </p:txBody>
      </p:sp>
      <p:sp>
        <p:nvSpPr>
          <p:cNvPr id="11"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F7F2"/>
                </a:solidFill>
                <a:latin typeface="Arial" pitchFamily="34" charset="0"/>
                <a:ea typeface="Arial" pitchFamily="34" charset="-122"/>
                <a:cs typeface="Arial" pitchFamily="34" charset="-120"/>
              </a:rPr>
              <a:t>David Adedeji · Team Brix · HackPSU Fall 2026 · FNB Challenge</a:t>
            </a:r>
            <a:endParaRPr lang="en-US" sz="1200" dirty="0"/>
          </a:p>
        </p:txBody>
      </p:sp>
    </p:spTree>
  </p:cSld>
  <p:clrMapOvr>
    <a:masterClrMapping/>
  </p:clrMapOvr>
</p:sld>
</file>

<file path=ppt/theme/theme1.xml><?xml version="1.0" encoding="utf-8"?>
<a:theme xmlns:a="http://schemas.openxmlformats.org/drawingml/2006/main" name="Brix Pitch Deck">
  <a:themeElements>
    <a:clrScheme name="Brix Pitch Deck">
      <a:dk1>
        <a:srgbClr val="292920"/>
      </a:dk1>
      <a:lt1>
        <a:srgbClr val="F7F5EF"/>
      </a:lt1>
      <a:dk2>
        <a:srgbClr val="5D5C54"/>
      </a:dk2>
      <a:lt2>
        <a:srgbClr val="E2E1DA"/>
      </a:lt2>
      <a:accent1>
        <a:srgbClr val="B13C22"/>
      </a:accent1>
      <a:accent2>
        <a:srgbClr val="C8462A"/>
      </a:accent2>
      <a:accent3>
        <a:srgbClr val="9A3426"/>
      </a:accent3>
      <a:accent4>
        <a:srgbClr val="F08A62"/>
      </a:accent4>
      <a:accent5>
        <a:srgbClr val="2F5E46"/>
      </a:accent5>
      <a:accent6>
        <a:srgbClr val="4A493F"/>
      </a:accent6>
      <a:hlink>
        <a:srgbClr val="0563C1"/>
      </a:hlink>
      <a:folHlink>
        <a:srgbClr val="954F72"/>
      </a:folHlink>
    </a:clrScheme>
    <a:fontScheme name="Brix Pitch De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2049</Words>
  <Application>Microsoft Office PowerPoint</Application>
  <PresentationFormat>Widescreen</PresentationFormat>
  <Paragraphs>256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Georgia</vt:lpstr>
      <vt:lpstr>Times New Roman</vt:lpstr>
      <vt:lpstr>Brix Pitch Deck</vt:lpstr>
      <vt:lpstr>brix.</vt:lpstr>
      <vt:lpstr>Agenda</vt:lpstr>
      <vt:lpstr>Meet the team behind Brix</vt:lpstr>
      <vt:lpstr>Four money moments students get wrong</vt:lpstr>
      <vt:lpstr>Where student need meets a market gap</vt:lpstr>
      <vt:lpstr>Brix shows up at each moment, with one next step</vt:lpstr>
      <vt:lpstr>Product demo</vt:lpstr>
      <vt:lpstr>Why Brix, not another budgeting app</vt:lpstr>
      <vt:lpstr>A big, reachable first market</vt:lpstr>
      <vt:lpstr>Four ways Brix makes money</vt:lpstr>
      <vt:lpstr>The next two years</vt:lpstr>
      <vt:lpstr>Whatever we win, every dollar has a job</vt:lpstr>
      <vt:lpstr>What 50,000 students could keep each year</vt:lpstr>
      <vt:lpstr>brix.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Brix Pitch Deck</dc:title>
  <dc:subject/>
  <dc:creator>NICHONETT</dc:creator>
  <cp:lastModifiedBy>Nicholas Nettey</cp:lastModifiedBy>
  <cp:revision>2</cp:revision>
  <dcterms:created xsi:type="dcterms:W3CDTF">2026-10-28T18:29:44Z</dcterms:created>
  <dcterms:modified xsi:type="dcterms:W3CDTF">2026-10-28T22:14:03Z</dcterms:modified>
</cp:coreProperties>
</file>